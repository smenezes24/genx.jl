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8" r:id="rId8"/>
    <p:sldId id="262" r:id="rId9"/>
    <p:sldId id="273" r:id="rId10"/>
    <p:sldId id="263" r:id="rId11"/>
    <p:sldId id="264" r:id="rId12"/>
    <p:sldId id="265" r:id="rId13"/>
    <p:sldId id="266" r:id="rId14"/>
    <p:sldId id="267" r:id="rId15"/>
    <p:sldId id="275" r:id="rId16"/>
    <p:sldId id="276" r:id="rId17"/>
    <p:sldId id="277" r:id="rId18"/>
    <p:sldId id="278" r:id="rId19"/>
    <p:sldId id="279" r:id="rId20"/>
    <p:sldId id="270" r:id="rId21"/>
    <p:sldId id="27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83"/>
    <p:restoredTop sz="94712"/>
  </p:normalViewPr>
  <p:slideViewPr>
    <p:cSldViewPr snapToGrid="0" snapToObjects="1">
      <p:cViewPr varScale="1">
        <p:scale>
          <a:sx n="105" d="100"/>
          <a:sy n="105" d="100"/>
        </p:scale>
        <p:origin x="68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A46"/>
        </a:solidFill>
        <a:effectLst/>
      </p:bgPr>
    </p:bg>
    <p:spTree>
      <p:nvGrpSpPr>
        <p:cNvPr id="1" name=""/>
        <p:cNvGrpSpPr/>
        <p:nvPr/>
      </p:nvGrpSpPr>
      <p:grpSpPr>
        <a:xfrm>
          <a:off x="0" y="0"/>
          <a:ext cx="0" cy="0"/>
          <a:chOff x="0" y="0"/>
          <a:chExt cx="0" cy="0"/>
        </a:xfrm>
      </p:grpSpPr>
      <p:sp>
        <p:nvSpPr>
          <p:cNvPr id="2" name="Rectangle 1"/>
          <p:cNvSpPr/>
          <p:nvPr/>
        </p:nvSpPr>
        <p:spPr>
          <a:xfrm>
            <a:off x="0" y="0"/>
            <a:ext cx="182880" cy="6858000"/>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960120"/>
            <a:ext cx="10058400" cy="365760"/>
          </a:xfrm>
          <a:prstGeom prst="rect">
            <a:avLst/>
          </a:prstGeom>
          <a:noFill/>
        </p:spPr>
        <p:txBody>
          <a:bodyPr wrap="square" lIns="54864" tIns="27432" rIns="54864" bIns="27432">
            <a:spAutoFit/>
          </a:bodyPr>
          <a:lstStyle/>
          <a:p>
            <a:r>
              <a:rPr sz="1300" b="1">
                <a:solidFill>
                  <a:srgbClr val="87D3CC"/>
                </a:solidFill>
                <a:latin typeface="Aptos"/>
              </a:rPr>
              <a:t>TECHNICAL WALKTHROUGH</a:t>
            </a:r>
          </a:p>
        </p:txBody>
      </p:sp>
      <p:sp>
        <p:nvSpPr>
          <p:cNvPr id="4" name="TextBox 3"/>
          <p:cNvSpPr txBox="1"/>
          <p:nvPr/>
        </p:nvSpPr>
        <p:spPr>
          <a:xfrm>
            <a:off x="868680" y="1600200"/>
            <a:ext cx="10424160" cy="1101840"/>
          </a:xfrm>
          <a:prstGeom prst="rect">
            <a:avLst/>
          </a:prstGeom>
          <a:noFill/>
        </p:spPr>
        <p:txBody>
          <a:bodyPr wrap="square" lIns="54864" tIns="27432" rIns="54864" bIns="27432">
            <a:spAutoFit/>
          </a:bodyPr>
          <a:lstStyle/>
          <a:p>
            <a:r>
              <a:rPr sz="3400" b="1" dirty="0">
                <a:solidFill>
                  <a:srgbClr val="FFFFFF"/>
                </a:solidFill>
                <a:latin typeface="Aptos"/>
              </a:rPr>
              <a:t>Method of Morris </a:t>
            </a:r>
            <a:r>
              <a:rPr lang="en-US" sz="3400" b="1" dirty="0">
                <a:solidFill>
                  <a:srgbClr val="FFFFFF"/>
                </a:solidFill>
                <a:latin typeface="Aptos"/>
              </a:rPr>
              <a:t>and BFPS Index </a:t>
            </a:r>
            <a:r>
              <a:rPr sz="3400" b="1" dirty="0">
                <a:solidFill>
                  <a:srgbClr val="FFFFFF"/>
                </a:solidFill>
                <a:latin typeface="Aptos"/>
              </a:rPr>
              <a:t>for
GenX Uncertainty Screening</a:t>
            </a:r>
          </a:p>
        </p:txBody>
      </p:sp>
      <p:sp>
        <p:nvSpPr>
          <p:cNvPr id="5" name="TextBox 4"/>
          <p:cNvSpPr txBox="1"/>
          <p:nvPr/>
        </p:nvSpPr>
        <p:spPr>
          <a:xfrm>
            <a:off x="914400" y="3246120"/>
            <a:ext cx="9875520" cy="640175"/>
          </a:xfrm>
          <a:prstGeom prst="rect">
            <a:avLst/>
          </a:prstGeom>
          <a:noFill/>
        </p:spPr>
        <p:txBody>
          <a:bodyPr wrap="square" lIns="54864" tIns="27432" rIns="54864" bIns="27432">
            <a:spAutoFit/>
          </a:bodyPr>
          <a:lstStyle/>
          <a:p>
            <a:r>
              <a:rPr sz="1900" b="0" dirty="0">
                <a:solidFill>
                  <a:srgbClr val="DEE7EF"/>
                </a:solidFill>
                <a:latin typeface="Aptos"/>
              </a:rPr>
              <a:t>From </a:t>
            </a:r>
            <a:r>
              <a:rPr lang="en-US" sz="1900" b="0" dirty="0">
                <a:solidFill>
                  <a:srgbClr val="DEE7EF"/>
                </a:solidFill>
                <a:latin typeface="Aptos"/>
              </a:rPr>
              <a:t>Multiple Policy Scenarios, </a:t>
            </a:r>
            <a:r>
              <a:rPr sz="1900" b="0" dirty="0">
                <a:solidFill>
                  <a:srgbClr val="DEE7EF"/>
                </a:solidFill>
                <a:latin typeface="Aptos"/>
              </a:rPr>
              <a:t>parameter ranges and sampled trajectories to system-level and zonal sensitivity outputs</a:t>
            </a:r>
          </a:p>
        </p:txBody>
      </p:sp>
      <p:sp>
        <p:nvSpPr>
          <p:cNvPr id="6" name="TextBox 5"/>
          <p:cNvSpPr txBox="1"/>
          <p:nvPr/>
        </p:nvSpPr>
        <p:spPr>
          <a:xfrm>
            <a:off x="914400" y="5349240"/>
            <a:ext cx="9601200" cy="320040"/>
          </a:xfrm>
          <a:prstGeom prst="rect">
            <a:avLst/>
          </a:prstGeom>
          <a:noFill/>
        </p:spPr>
        <p:txBody>
          <a:bodyPr wrap="square" lIns="54864" tIns="27432" rIns="54864" bIns="27432">
            <a:spAutoFit/>
          </a:bodyPr>
          <a:lstStyle/>
          <a:p>
            <a:r>
              <a:rPr sz="1300" b="0" dirty="0">
                <a:solidFill>
                  <a:srgbClr val="B4C5D4"/>
                </a:solidFill>
                <a:latin typeface="Aptos"/>
              </a:rPr>
              <a:t>Julia implementation • </a:t>
            </a:r>
            <a:r>
              <a:rPr sz="1300" b="0" dirty="0" err="1">
                <a:solidFill>
                  <a:srgbClr val="B4C5D4"/>
                </a:solidFill>
                <a:latin typeface="Aptos"/>
              </a:rPr>
              <a:t>method_of_morris.jl</a:t>
            </a:r>
            <a:endParaRPr sz="1300" b="0" dirty="0">
              <a:solidFill>
                <a:srgbClr val="B4C5D4"/>
              </a:solidFill>
              <a:latin typeface="Aptos"/>
            </a:endParaRPr>
          </a:p>
        </p:txBody>
      </p:sp>
      <p:sp>
        <p:nvSpPr>
          <p:cNvPr id="7" name="TextBox 6">
            <a:extLst>
              <a:ext uri="{FF2B5EF4-FFF2-40B4-BE49-F238E27FC236}">
                <a16:creationId xmlns:a16="http://schemas.microsoft.com/office/drawing/2014/main" id="{40A3DB2B-FF16-8CEA-9410-E9DBA3837337}"/>
              </a:ext>
            </a:extLst>
          </p:cNvPr>
          <p:cNvSpPr txBox="1"/>
          <p:nvPr/>
        </p:nvSpPr>
        <p:spPr>
          <a:xfrm>
            <a:off x="914400" y="4297727"/>
            <a:ext cx="9601200" cy="655564"/>
          </a:xfrm>
          <a:prstGeom prst="rect">
            <a:avLst/>
          </a:prstGeom>
          <a:noFill/>
        </p:spPr>
        <p:txBody>
          <a:bodyPr wrap="square" lIns="54864" tIns="27432" rIns="54864" bIns="27432">
            <a:spAutoFit/>
          </a:bodyPr>
          <a:lstStyle/>
          <a:p>
            <a:r>
              <a:rPr lang="en-US" sz="1300" b="0" dirty="0">
                <a:solidFill>
                  <a:srgbClr val="B4C5D4"/>
                </a:solidFill>
                <a:latin typeface="Aptos"/>
              </a:rPr>
              <a:t>Shane Menezes</a:t>
            </a:r>
          </a:p>
          <a:p>
            <a:r>
              <a:rPr lang="en-US" sz="1300" b="0" dirty="0">
                <a:solidFill>
                  <a:srgbClr val="B4C5D4"/>
                </a:solidFill>
                <a:latin typeface="Aptos"/>
              </a:rPr>
              <a:t>Dr Neha Patankar</a:t>
            </a:r>
          </a:p>
          <a:p>
            <a:r>
              <a:rPr lang="en-US" sz="1300" dirty="0">
                <a:solidFill>
                  <a:srgbClr val="B4C5D4"/>
                </a:solidFill>
                <a:latin typeface="Aptos"/>
              </a:rPr>
              <a:t>Binghamton University</a:t>
            </a:r>
            <a:endParaRPr sz="1300" b="0" dirty="0">
              <a:solidFill>
                <a:srgbClr val="B4C5D4"/>
              </a:solidFill>
              <a:latin typeface="Aptos"/>
            </a:endParaRPr>
          </a:p>
        </p:txBody>
      </p:sp>
      <p:sp>
        <p:nvSpPr>
          <p:cNvPr id="9" name="TextBox 8">
            <a:extLst>
              <a:ext uri="{FF2B5EF4-FFF2-40B4-BE49-F238E27FC236}">
                <a16:creationId xmlns:a16="http://schemas.microsoft.com/office/drawing/2014/main" id="{C1A746C9-5993-661B-3A41-060ECA238E75}"/>
              </a:ext>
            </a:extLst>
          </p:cNvPr>
          <p:cNvSpPr txBox="1"/>
          <p:nvPr/>
        </p:nvSpPr>
        <p:spPr>
          <a:xfrm>
            <a:off x="5897880" y="4792117"/>
            <a:ext cx="6120384" cy="1754326"/>
          </a:xfrm>
          <a:prstGeom prst="rect">
            <a:avLst/>
          </a:prstGeom>
          <a:noFill/>
        </p:spPr>
        <p:txBody>
          <a:bodyPr wrap="square">
            <a:spAutoFit/>
          </a:bodyPr>
          <a:lstStyle/>
          <a:p>
            <a:pPr rtl="0">
              <a:buNone/>
            </a:pPr>
            <a:r>
              <a:rPr lang="en-US" dirty="0">
                <a:solidFill>
                  <a:schemeClr val="bg1"/>
                </a:solidFill>
                <a:latin typeface="+mn-lt"/>
              </a:rPr>
              <a:t>Research Citation Reference:</a:t>
            </a:r>
          </a:p>
          <a:p>
            <a:pPr rtl="0">
              <a:buNone/>
            </a:pPr>
            <a:r>
              <a:rPr lang="en-US" dirty="0">
                <a:solidFill>
                  <a:schemeClr val="bg1"/>
                </a:solidFill>
                <a:latin typeface="+mn-lt"/>
              </a:rPr>
              <a:t>Menezes, S., &amp; Patankar, N. (2026). "Zonal Global Sensitivity Analysis for Policy-Constrained Capacity Expansion Planning in New York.” 11th North American International Conference on Industrial Engineering and Operations Management. https://</a:t>
            </a:r>
            <a:r>
              <a:rPr lang="en-US" dirty="0" err="1">
                <a:solidFill>
                  <a:schemeClr val="bg1"/>
                </a:solidFill>
                <a:latin typeface="+mn-lt"/>
              </a:rPr>
              <a:t>doi.org</a:t>
            </a:r>
            <a:r>
              <a:rPr lang="en-US" dirty="0">
                <a:solidFill>
                  <a:schemeClr val="bg1"/>
                </a:solidFill>
                <a:latin typeface="+mn-lt"/>
              </a:rPr>
              <a:t>/10.46254/NA11.20260328</a:t>
            </a:r>
            <a:endParaRPr lang="en-US" dirty="0">
              <a:solidFill>
                <a:schemeClr val="bg1"/>
              </a:solidFill>
              <a:latin typeface="Courier New" panose="02070309020205020404" pitchFamily="49"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972800" cy="438912"/>
          </a:xfrm>
          <a:prstGeom prst="rect">
            <a:avLst/>
          </a:prstGeom>
          <a:noFill/>
        </p:spPr>
        <p:txBody>
          <a:bodyPr wrap="square" lIns="54864" tIns="27432" rIns="54864" bIns="27432">
            <a:spAutoFit/>
          </a:bodyPr>
          <a:lstStyle/>
          <a:p>
            <a:r>
              <a:rPr sz="2600" b="1">
                <a:solidFill>
                  <a:srgbClr val="162A46"/>
                </a:solidFill>
                <a:latin typeface="Aptos"/>
              </a:rPr>
              <a:t>1. What problem does the code solve?</a:t>
            </a:r>
          </a:p>
        </p:txBody>
      </p:sp>
      <p:sp>
        <p:nvSpPr>
          <p:cNvPr id="3" name="TextBox 2"/>
          <p:cNvSpPr txBox="1"/>
          <p:nvPr/>
        </p:nvSpPr>
        <p:spPr>
          <a:xfrm>
            <a:off x="594360" y="731520"/>
            <a:ext cx="10789920" cy="292608"/>
          </a:xfrm>
          <a:prstGeom prst="rect">
            <a:avLst/>
          </a:prstGeom>
          <a:noFill/>
        </p:spPr>
        <p:txBody>
          <a:bodyPr wrap="square" lIns="54864" tIns="27432" rIns="54864" bIns="27432">
            <a:spAutoFit/>
          </a:bodyPr>
          <a:lstStyle/>
          <a:p>
            <a:r>
              <a:rPr sz="1200" b="0">
                <a:solidFill>
                  <a:srgbClr val="5D6C7A"/>
                </a:solidFill>
                <a:latin typeface="Aptos"/>
              </a:rPr>
              <a:t>Screen uncertain planning inputs and assess their modeled influence.</a:t>
            </a:r>
          </a:p>
        </p:txBody>
      </p:sp>
      <p:sp>
        <p:nvSpPr>
          <p:cNvPr id="4" name="Rectangle 3"/>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PURPOSE</a:t>
            </a:r>
          </a:p>
        </p:txBody>
      </p:sp>
      <p:sp>
        <p:nvSpPr>
          <p:cNvPr id="6" name="Rounded Rectangle 5"/>
          <p:cNvSpPr/>
          <p:nvPr/>
        </p:nvSpPr>
        <p:spPr>
          <a:xfrm>
            <a:off x="685800" y="1417320"/>
            <a:ext cx="3429000" cy="192024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64008" cy="1920240"/>
          </a:xfrm>
          <a:prstGeom prst="rect">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36192"/>
            <a:ext cx="3108960" cy="320040"/>
          </a:xfrm>
          <a:prstGeom prst="rect">
            <a:avLst/>
          </a:prstGeom>
          <a:noFill/>
        </p:spPr>
        <p:txBody>
          <a:bodyPr wrap="square" lIns="54864" tIns="27432" rIns="54864" bIns="27432">
            <a:spAutoFit/>
          </a:bodyPr>
          <a:lstStyle/>
          <a:p>
            <a:r>
              <a:rPr sz="1500" b="1">
                <a:solidFill>
                  <a:srgbClr val="162A46"/>
                </a:solidFill>
                <a:latin typeface="Aptos"/>
              </a:rPr>
              <a:t>INPUTS</a:t>
            </a:r>
          </a:p>
        </p:txBody>
      </p:sp>
      <p:sp>
        <p:nvSpPr>
          <p:cNvPr id="9" name="TextBox 8"/>
          <p:cNvSpPr txBox="1"/>
          <p:nvPr/>
        </p:nvSpPr>
        <p:spPr>
          <a:xfrm>
            <a:off x="868680" y="1911095"/>
            <a:ext cx="3108960" cy="1335024"/>
          </a:xfrm>
          <a:prstGeom prst="rect">
            <a:avLst/>
          </a:prstGeom>
          <a:noFill/>
        </p:spPr>
        <p:txBody>
          <a:bodyPr wrap="square" lIns="54864" tIns="27432" rIns="54864" bIns="27432">
            <a:spAutoFit/>
          </a:bodyPr>
          <a:lstStyle/>
          <a:p>
            <a:r>
              <a:rPr sz="1200" b="0">
                <a:solidFill>
                  <a:srgbClr val="26303A"/>
                </a:solidFill>
                <a:latin typeface="Aptos"/>
              </a:rPr>
              <a:t>Configuration CSVs define active uncertain parameters and their ranges.</a:t>
            </a:r>
          </a:p>
        </p:txBody>
      </p:sp>
      <p:sp>
        <p:nvSpPr>
          <p:cNvPr id="10" name="Rounded Rectangle 9"/>
          <p:cNvSpPr/>
          <p:nvPr/>
        </p:nvSpPr>
        <p:spPr>
          <a:xfrm>
            <a:off x="4370832" y="1417320"/>
            <a:ext cx="3429000" cy="192024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0832" y="1417320"/>
            <a:ext cx="64008" cy="1920240"/>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53712" y="1536192"/>
            <a:ext cx="3108960" cy="320040"/>
          </a:xfrm>
          <a:prstGeom prst="rect">
            <a:avLst/>
          </a:prstGeom>
          <a:noFill/>
        </p:spPr>
        <p:txBody>
          <a:bodyPr wrap="square" lIns="54864" tIns="27432" rIns="54864" bIns="27432">
            <a:spAutoFit/>
          </a:bodyPr>
          <a:lstStyle/>
          <a:p>
            <a:r>
              <a:rPr sz="1500" b="1">
                <a:solidFill>
                  <a:srgbClr val="162A46"/>
                </a:solidFill>
                <a:latin typeface="Aptos"/>
              </a:rPr>
              <a:t>MODEL EVALUATION</a:t>
            </a:r>
          </a:p>
        </p:txBody>
      </p:sp>
      <p:sp>
        <p:nvSpPr>
          <p:cNvPr id="13" name="TextBox 12"/>
          <p:cNvSpPr txBox="1"/>
          <p:nvPr/>
        </p:nvSpPr>
        <p:spPr>
          <a:xfrm>
            <a:off x="4553712" y="1911095"/>
            <a:ext cx="3108960" cy="1335024"/>
          </a:xfrm>
          <a:prstGeom prst="rect">
            <a:avLst/>
          </a:prstGeom>
          <a:noFill/>
        </p:spPr>
        <p:txBody>
          <a:bodyPr wrap="square" lIns="54864" tIns="27432" rIns="54864" bIns="27432">
            <a:spAutoFit/>
          </a:bodyPr>
          <a:lstStyle/>
          <a:p>
            <a:r>
              <a:rPr sz="1200" b="0">
                <a:solidFill>
                  <a:srgbClr val="26303A"/>
                </a:solidFill>
                <a:latin typeface="Aptos"/>
              </a:rPr>
              <a:t>Sampled parameter vectors are applied to GenX; the model is updated and solved for each design point.</a:t>
            </a:r>
          </a:p>
        </p:txBody>
      </p:sp>
      <p:sp>
        <p:nvSpPr>
          <p:cNvPr id="14" name="Rounded Rectangle 13"/>
          <p:cNvSpPr/>
          <p:nvPr/>
        </p:nvSpPr>
        <p:spPr>
          <a:xfrm>
            <a:off x="8046720" y="1417320"/>
            <a:ext cx="3429000" cy="192024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417320"/>
            <a:ext cx="64008" cy="1920240"/>
          </a:xfrm>
          <a:prstGeom prst="rect">
            <a:avLst/>
          </a:prstGeom>
          <a:solidFill>
            <a:srgbClr val="E0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536192"/>
            <a:ext cx="3108960" cy="320040"/>
          </a:xfrm>
          <a:prstGeom prst="rect">
            <a:avLst/>
          </a:prstGeom>
          <a:noFill/>
        </p:spPr>
        <p:txBody>
          <a:bodyPr wrap="square" lIns="54864" tIns="27432" rIns="54864" bIns="27432">
            <a:spAutoFit/>
          </a:bodyPr>
          <a:lstStyle/>
          <a:p>
            <a:r>
              <a:rPr sz="1500" b="1">
                <a:solidFill>
                  <a:srgbClr val="162A46"/>
                </a:solidFill>
                <a:latin typeface="Aptos"/>
              </a:rPr>
              <a:t>SENSITIVITY OUTPUTS</a:t>
            </a:r>
          </a:p>
        </p:txBody>
      </p:sp>
      <p:sp>
        <p:nvSpPr>
          <p:cNvPr id="17" name="TextBox 16"/>
          <p:cNvSpPr txBox="1"/>
          <p:nvPr/>
        </p:nvSpPr>
        <p:spPr>
          <a:xfrm>
            <a:off x="8229600" y="1911095"/>
            <a:ext cx="3108960" cy="1335024"/>
          </a:xfrm>
          <a:prstGeom prst="rect">
            <a:avLst/>
          </a:prstGeom>
          <a:noFill/>
        </p:spPr>
        <p:txBody>
          <a:bodyPr wrap="square" lIns="54864" tIns="27432" rIns="54864" bIns="27432">
            <a:spAutoFit/>
          </a:bodyPr>
          <a:lstStyle/>
          <a:p>
            <a:r>
              <a:rPr sz="1200" b="0">
                <a:solidFill>
                  <a:srgbClr val="26303A"/>
                </a:solidFill>
                <a:latin typeface="Aptos"/>
              </a:rPr>
              <a:t>Morris effects and BFPS indices summarize relationships to system and zonal outputs.</a:t>
            </a:r>
          </a:p>
        </p:txBody>
      </p:sp>
      <p:sp>
        <p:nvSpPr>
          <p:cNvPr id="18" name="TextBox 17"/>
          <p:cNvSpPr txBox="1"/>
          <p:nvPr/>
        </p:nvSpPr>
        <p:spPr>
          <a:xfrm>
            <a:off x="822960" y="3840480"/>
            <a:ext cx="10515600" cy="594360"/>
          </a:xfrm>
          <a:prstGeom prst="rect">
            <a:avLst/>
          </a:prstGeom>
          <a:noFill/>
        </p:spPr>
        <p:txBody>
          <a:bodyPr wrap="square" lIns="54864" tIns="27432" rIns="54864" bIns="27432">
            <a:spAutoFit/>
          </a:bodyPr>
          <a:lstStyle/>
          <a:p>
            <a:pPr algn="ctr"/>
            <a:r>
              <a:rPr sz="2100" b="1">
                <a:solidFill>
                  <a:srgbClr val="162A46"/>
                </a:solidFill>
                <a:latin typeface="Aptos"/>
              </a:rPr>
              <a:t>Core question: Which uncertain inputs matter most, and for which outcomes or zones?</a:t>
            </a:r>
          </a:p>
        </p:txBody>
      </p:sp>
      <p:sp>
        <p:nvSpPr>
          <p:cNvPr id="19" name="TextBox 18"/>
          <p:cNvSpPr txBox="1"/>
          <p:nvPr/>
        </p:nvSpPr>
        <p:spPr>
          <a:xfrm>
            <a:off x="1005840" y="4754880"/>
            <a:ext cx="10149840" cy="594360"/>
          </a:xfrm>
          <a:prstGeom prst="rect">
            <a:avLst/>
          </a:prstGeom>
          <a:noFill/>
        </p:spPr>
        <p:txBody>
          <a:bodyPr wrap="square" lIns="54864" tIns="27432" rIns="54864" bIns="27432">
            <a:spAutoFit/>
          </a:bodyPr>
          <a:lstStyle/>
          <a:p>
            <a:pPr algn="ctr"/>
            <a:r>
              <a:rPr sz="1400" b="0">
                <a:solidFill>
                  <a:srgbClr val="5D6C7A"/>
                </a:solidFill>
                <a:latin typeface="Aptos"/>
              </a:rPr>
              <a:t>Screening prioritizes attention; it does not by itself establish causation or replace detailed uncertainty analysis.</a:t>
            </a:r>
          </a:p>
        </p:txBody>
      </p:sp>
      <p:sp>
        <p:nvSpPr>
          <p:cNvPr id="20" name="TextBox 19"/>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21" name="TextBox 20"/>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972800" cy="438912"/>
          </a:xfrm>
          <a:prstGeom prst="rect">
            <a:avLst/>
          </a:prstGeom>
          <a:noFill/>
        </p:spPr>
        <p:txBody>
          <a:bodyPr wrap="square" lIns="54864" tIns="27432" rIns="54864" bIns="27432">
            <a:spAutoFit/>
          </a:bodyPr>
          <a:lstStyle/>
          <a:p>
            <a:r>
              <a:rPr sz="2600" b="1">
                <a:solidFill>
                  <a:srgbClr val="162A46"/>
                </a:solidFill>
                <a:latin typeface="Aptos"/>
              </a:rPr>
              <a:t>2. End-to-end architecture</a:t>
            </a:r>
          </a:p>
        </p:txBody>
      </p:sp>
      <p:sp>
        <p:nvSpPr>
          <p:cNvPr id="3" name="TextBox 2"/>
          <p:cNvSpPr txBox="1"/>
          <p:nvPr/>
        </p:nvSpPr>
        <p:spPr>
          <a:xfrm>
            <a:off x="594360" y="731520"/>
            <a:ext cx="10789920" cy="240066"/>
          </a:xfrm>
          <a:prstGeom prst="rect">
            <a:avLst/>
          </a:prstGeom>
          <a:noFill/>
        </p:spPr>
        <p:txBody>
          <a:bodyPr wrap="square" lIns="54864" tIns="27432" rIns="54864" bIns="27432">
            <a:spAutoFit/>
          </a:bodyPr>
          <a:lstStyle/>
          <a:p>
            <a:r>
              <a:rPr lang="en-US" sz="1200" dirty="0">
                <a:solidFill>
                  <a:srgbClr val="5D6C7A"/>
                </a:solidFill>
                <a:latin typeface="Aptos"/>
              </a:rPr>
              <a:t>Design Flow</a:t>
            </a:r>
            <a:endParaRPr sz="1200" b="0" dirty="0">
              <a:solidFill>
                <a:srgbClr val="5D6C7A"/>
              </a:solidFill>
              <a:latin typeface="Aptos"/>
            </a:endParaRPr>
          </a:p>
        </p:txBody>
      </p:sp>
      <p:sp>
        <p:nvSpPr>
          <p:cNvPr id="4" name="Rectangle 3"/>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WORKFLOW</a:t>
            </a:r>
          </a:p>
        </p:txBody>
      </p:sp>
      <p:sp>
        <p:nvSpPr>
          <p:cNvPr id="6" name="Oval 5"/>
          <p:cNvSpPr/>
          <p:nvPr/>
        </p:nvSpPr>
        <p:spPr>
          <a:xfrm>
            <a:off x="868680" y="1481328"/>
            <a:ext cx="457200" cy="457200"/>
          </a:xfrm>
          <a:prstGeom prst="ellipse">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554480"/>
            <a:ext cx="457200" cy="182880"/>
          </a:xfrm>
          <a:prstGeom prst="rect">
            <a:avLst/>
          </a:prstGeom>
          <a:noFill/>
        </p:spPr>
        <p:txBody>
          <a:bodyPr wrap="square" lIns="54864" tIns="27432" rIns="54864" bIns="27432">
            <a:spAutoFit/>
          </a:bodyPr>
          <a:lstStyle/>
          <a:p>
            <a:pPr algn="ctr"/>
            <a:r>
              <a:rPr sz="1300" b="1">
                <a:solidFill>
                  <a:srgbClr val="FFFFFF"/>
                </a:solidFill>
                <a:latin typeface="Aptos"/>
              </a:rPr>
              <a:t>1</a:t>
            </a:r>
          </a:p>
        </p:txBody>
      </p:sp>
      <p:sp>
        <p:nvSpPr>
          <p:cNvPr id="8" name="TextBox 7"/>
          <p:cNvSpPr txBox="1"/>
          <p:nvPr/>
        </p:nvSpPr>
        <p:spPr>
          <a:xfrm>
            <a:off x="475488" y="2075688"/>
            <a:ext cx="1325880" cy="274320"/>
          </a:xfrm>
          <a:prstGeom prst="rect">
            <a:avLst/>
          </a:prstGeom>
          <a:noFill/>
        </p:spPr>
        <p:txBody>
          <a:bodyPr wrap="square" lIns="54864" tIns="27432" rIns="54864" bIns="27432">
            <a:spAutoFit/>
          </a:bodyPr>
          <a:lstStyle/>
          <a:p>
            <a:pPr algn="ctr"/>
            <a:r>
              <a:rPr sz="1300" b="1">
                <a:solidFill>
                  <a:srgbClr val="162A46"/>
                </a:solidFill>
                <a:latin typeface="Aptos"/>
              </a:rPr>
              <a:t>Read config</a:t>
            </a:r>
          </a:p>
        </p:txBody>
      </p:sp>
      <p:sp>
        <p:nvSpPr>
          <p:cNvPr id="9" name="TextBox 8"/>
          <p:cNvSpPr txBox="1"/>
          <p:nvPr/>
        </p:nvSpPr>
        <p:spPr>
          <a:xfrm>
            <a:off x="448056" y="2487168"/>
            <a:ext cx="1417320" cy="548640"/>
          </a:xfrm>
          <a:prstGeom prst="rect">
            <a:avLst/>
          </a:prstGeom>
          <a:noFill/>
        </p:spPr>
        <p:txBody>
          <a:bodyPr wrap="square" lIns="54864" tIns="27432" rIns="54864" bIns="27432">
            <a:spAutoFit/>
          </a:bodyPr>
          <a:lstStyle/>
          <a:p>
            <a:pPr algn="ctr"/>
            <a:r>
              <a:rPr sz="1100" b="0">
                <a:solidFill>
                  <a:srgbClr val="26303A"/>
                </a:solidFill>
                <a:latin typeface="Aptos"/>
              </a:rPr>
              <a:t>Active inputs
and ranges</a:t>
            </a:r>
          </a:p>
        </p:txBody>
      </p:sp>
      <p:sp>
        <p:nvSpPr>
          <p:cNvPr id="10" name="Right Arrow 9"/>
          <p:cNvSpPr/>
          <p:nvPr/>
        </p:nvSpPr>
        <p:spPr>
          <a:xfrm>
            <a:off x="1847088" y="1627632"/>
            <a:ext cx="438912" cy="164592"/>
          </a:xfrm>
          <a:prstGeom prst="rightArrow">
            <a:avLst/>
          </a:prstGeom>
          <a:solidFill>
            <a:srgbClr val="ACB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807208" y="1481328"/>
            <a:ext cx="457200" cy="457200"/>
          </a:xfrm>
          <a:prstGeom prst="ellipse">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07208" y="1554480"/>
            <a:ext cx="457200" cy="182880"/>
          </a:xfrm>
          <a:prstGeom prst="rect">
            <a:avLst/>
          </a:prstGeom>
          <a:noFill/>
        </p:spPr>
        <p:txBody>
          <a:bodyPr wrap="square" lIns="54864" tIns="27432" rIns="54864" bIns="27432">
            <a:spAutoFit/>
          </a:bodyPr>
          <a:lstStyle/>
          <a:p>
            <a:pPr algn="ctr"/>
            <a:r>
              <a:rPr sz="1300" b="1">
                <a:solidFill>
                  <a:srgbClr val="FFFFFF"/>
                </a:solidFill>
                <a:latin typeface="Aptos"/>
              </a:rPr>
              <a:t>2</a:t>
            </a:r>
          </a:p>
        </p:txBody>
      </p:sp>
      <p:sp>
        <p:nvSpPr>
          <p:cNvPr id="13" name="TextBox 12"/>
          <p:cNvSpPr txBox="1"/>
          <p:nvPr/>
        </p:nvSpPr>
        <p:spPr>
          <a:xfrm>
            <a:off x="2414016" y="2075688"/>
            <a:ext cx="1325880" cy="274320"/>
          </a:xfrm>
          <a:prstGeom prst="rect">
            <a:avLst/>
          </a:prstGeom>
          <a:noFill/>
        </p:spPr>
        <p:txBody>
          <a:bodyPr wrap="square" lIns="54864" tIns="27432" rIns="54864" bIns="27432">
            <a:spAutoFit/>
          </a:bodyPr>
          <a:lstStyle/>
          <a:p>
            <a:pPr algn="ctr"/>
            <a:r>
              <a:rPr sz="1300" b="1">
                <a:solidFill>
                  <a:srgbClr val="162A46"/>
                </a:solidFill>
                <a:latin typeface="Aptos"/>
              </a:rPr>
              <a:t>Build design</a:t>
            </a:r>
          </a:p>
        </p:txBody>
      </p:sp>
      <p:sp>
        <p:nvSpPr>
          <p:cNvPr id="14" name="TextBox 13"/>
          <p:cNvSpPr txBox="1"/>
          <p:nvPr/>
        </p:nvSpPr>
        <p:spPr>
          <a:xfrm>
            <a:off x="2386584" y="2487168"/>
            <a:ext cx="1417320" cy="548640"/>
          </a:xfrm>
          <a:prstGeom prst="rect">
            <a:avLst/>
          </a:prstGeom>
          <a:noFill/>
        </p:spPr>
        <p:txBody>
          <a:bodyPr wrap="square" lIns="54864" tIns="27432" rIns="54864" bIns="27432">
            <a:spAutoFit/>
          </a:bodyPr>
          <a:lstStyle/>
          <a:p>
            <a:pPr algn="ctr"/>
            <a:r>
              <a:rPr sz="1100" b="0">
                <a:solidFill>
                  <a:srgbClr val="26303A"/>
                </a:solidFill>
                <a:latin typeface="Aptos"/>
              </a:rPr>
              <a:t>Trajectories
and spread</a:t>
            </a:r>
          </a:p>
        </p:txBody>
      </p:sp>
      <p:sp>
        <p:nvSpPr>
          <p:cNvPr id="15" name="Right Arrow 14"/>
          <p:cNvSpPr/>
          <p:nvPr/>
        </p:nvSpPr>
        <p:spPr>
          <a:xfrm>
            <a:off x="3785616" y="1627632"/>
            <a:ext cx="438912" cy="164592"/>
          </a:xfrm>
          <a:prstGeom prst="rightArrow">
            <a:avLst/>
          </a:prstGeom>
          <a:solidFill>
            <a:srgbClr val="ACB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745736" y="1481328"/>
            <a:ext cx="457200" cy="457200"/>
          </a:xfrm>
          <a:prstGeom prst="ellipse">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45736" y="1554480"/>
            <a:ext cx="457200" cy="182880"/>
          </a:xfrm>
          <a:prstGeom prst="rect">
            <a:avLst/>
          </a:prstGeom>
          <a:noFill/>
        </p:spPr>
        <p:txBody>
          <a:bodyPr wrap="square" lIns="54864" tIns="27432" rIns="54864" bIns="27432">
            <a:spAutoFit/>
          </a:bodyPr>
          <a:lstStyle/>
          <a:p>
            <a:pPr algn="ctr"/>
            <a:r>
              <a:rPr sz="1300" b="1">
                <a:solidFill>
                  <a:srgbClr val="FFFFFF"/>
                </a:solidFill>
                <a:latin typeface="Aptos"/>
              </a:rPr>
              <a:t>3</a:t>
            </a:r>
          </a:p>
        </p:txBody>
      </p:sp>
      <p:sp>
        <p:nvSpPr>
          <p:cNvPr id="18" name="TextBox 17"/>
          <p:cNvSpPr txBox="1"/>
          <p:nvPr/>
        </p:nvSpPr>
        <p:spPr>
          <a:xfrm>
            <a:off x="4352544" y="2075688"/>
            <a:ext cx="1325880" cy="274320"/>
          </a:xfrm>
          <a:prstGeom prst="rect">
            <a:avLst/>
          </a:prstGeom>
          <a:noFill/>
        </p:spPr>
        <p:txBody>
          <a:bodyPr wrap="square" lIns="54864" tIns="27432" rIns="54864" bIns="27432">
            <a:spAutoFit/>
          </a:bodyPr>
          <a:lstStyle/>
          <a:p>
            <a:pPr algn="ctr"/>
            <a:r>
              <a:rPr sz="1300" b="1">
                <a:solidFill>
                  <a:srgbClr val="162A46"/>
                </a:solidFill>
                <a:latin typeface="Aptos"/>
              </a:rPr>
              <a:t>Run GenX</a:t>
            </a:r>
          </a:p>
        </p:txBody>
      </p:sp>
      <p:sp>
        <p:nvSpPr>
          <p:cNvPr id="19" name="TextBox 18"/>
          <p:cNvSpPr txBox="1"/>
          <p:nvPr/>
        </p:nvSpPr>
        <p:spPr>
          <a:xfrm>
            <a:off x="4325112" y="2487168"/>
            <a:ext cx="1417320" cy="548640"/>
          </a:xfrm>
          <a:prstGeom prst="rect">
            <a:avLst/>
          </a:prstGeom>
          <a:noFill/>
        </p:spPr>
        <p:txBody>
          <a:bodyPr wrap="square" lIns="54864" tIns="27432" rIns="54864" bIns="27432">
            <a:spAutoFit/>
          </a:bodyPr>
          <a:lstStyle/>
          <a:p>
            <a:pPr algn="ctr"/>
            <a:r>
              <a:rPr sz="1100" b="0">
                <a:solidFill>
                  <a:srgbClr val="26303A"/>
                </a:solidFill>
                <a:latin typeface="Aptos"/>
              </a:rPr>
              <a:t>Apply sample
and solve</a:t>
            </a:r>
          </a:p>
        </p:txBody>
      </p:sp>
      <p:sp>
        <p:nvSpPr>
          <p:cNvPr id="20" name="Right Arrow 19"/>
          <p:cNvSpPr/>
          <p:nvPr/>
        </p:nvSpPr>
        <p:spPr>
          <a:xfrm>
            <a:off x="5724144" y="1627632"/>
            <a:ext cx="438912" cy="164592"/>
          </a:xfrm>
          <a:prstGeom prst="rightArrow">
            <a:avLst/>
          </a:prstGeom>
          <a:solidFill>
            <a:srgbClr val="ACB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684264" y="1481328"/>
            <a:ext cx="457200" cy="457200"/>
          </a:xfrm>
          <a:prstGeom prst="ellipse">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84264" y="1554480"/>
            <a:ext cx="457200" cy="182880"/>
          </a:xfrm>
          <a:prstGeom prst="rect">
            <a:avLst/>
          </a:prstGeom>
          <a:noFill/>
        </p:spPr>
        <p:txBody>
          <a:bodyPr wrap="square" lIns="54864" tIns="27432" rIns="54864" bIns="27432">
            <a:spAutoFit/>
          </a:bodyPr>
          <a:lstStyle/>
          <a:p>
            <a:pPr algn="ctr"/>
            <a:r>
              <a:rPr sz="1300" b="1">
                <a:solidFill>
                  <a:srgbClr val="FFFFFF"/>
                </a:solidFill>
                <a:latin typeface="Aptos"/>
              </a:rPr>
              <a:t>4</a:t>
            </a:r>
          </a:p>
        </p:txBody>
      </p:sp>
      <p:sp>
        <p:nvSpPr>
          <p:cNvPr id="23" name="TextBox 22"/>
          <p:cNvSpPr txBox="1"/>
          <p:nvPr/>
        </p:nvSpPr>
        <p:spPr>
          <a:xfrm>
            <a:off x="6291072" y="2075688"/>
            <a:ext cx="1325880" cy="274320"/>
          </a:xfrm>
          <a:prstGeom prst="rect">
            <a:avLst/>
          </a:prstGeom>
          <a:noFill/>
        </p:spPr>
        <p:txBody>
          <a:bodyPr wrap="square" lIns="54864" tIns="27432" rIns="54864" bIns="27432">
            <a:spAutoFit/>
          </a:bodyPr>
          <a:lstStyle/>
          <a:p>
            <a:pPr algn="ctr"/>
            <a:r>
              <a:rPr sz="1300" b="1">
                <a:solidFill>
                  <a:srgbClr val="162A46"/>
                </a:solidFill>
                <a:latin typeface="Aptos"/>
              </a:rPr>
              <a:t>Extract</a:t>
            </a:r>
          </a:p>
        </p:txBody>
      </p:sp>
      <p:sp>
        <p:nvSpPr>
          <p:cNvPr id="24" name="TextBox 23"/>
          <p:cNvSpPr txBox="1"/>
          <p:nvPr/>
        </p:nvSpPr>
        <p:spPr>
          <a:xfrm>
            <a:off x="6263640" y="2487168"/>
            <a:ext cx="1417320" cy="548640"/>
          </a:xfrm>
          <a:prstGeom prst="rect">
            <a:avLst/>
          </a:prstGeom>
          <a:noFill/>
        </p:spPr>
        <p:txBody>
          <a:bodyPr wrap="square" lIns="54864" tIns="27432" rIns="54864" bIns="27432">
            <a:spAutoFit/>
          </a:bodyPr>
          <a:lstStyle/>
          <a:p>
            <a:pPr algn="ctr"/>
            <a:r>
              <a:rPr sz="1100" b="0">
                <a:solidFill>
                  <a:srgbClr val="26303A"/>
                </a:solidFill>
                <a:latin typeface="Aptos"/>
              </a:rPr>
              <a:t>System + zonal
metrics</a:t>
            </a:r>
          </a:p>
        </p:txBody>
      </p:sp>
      <p:sp>
        <p:nvSpPr>
          <p:cNvPr id="25" name="Right Arrow 24"/>
          <p:cNvSpPr/>
          <p:nvPr/>
        </p:nvSpPr>
        <p:spPr>
          <a:xfrm>
            <a:off x="7662672" y="1627632"/>
            <a:ext cx="438912" cy="164592"/>
          </a:xfrm>
          <a:prstGeom prst="rightArrow">
            <a:avLst/>
          </a:prstGeom>
          <a:solidFill>
            <a:srgbClr val="ACB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622792" y="1481328"/>
            <a:ext cx="457200" cy="457200"/>
          </a:xfrm>
          <a:prstGeom prst="ellipse">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22792" y="1554480"/>
            <a:ext cx="457200" cy="182880"/>
          </a:xfrm>
          <a:prstGeom prst="rect">
            <a:avLst/>
          </a:prstGeom>
          <a:noFill/>
        </p:spPr>
        <p:txBody>
          <a:bodyPr wrap="square" lIns="54864" tIns="27432" rIns="54864" bIns="27432">
            <a:spAutoFit/>
          </a:bodyPr>
          <a:lstStyle/>
          <a:p>
            <a:pPr algn="ctr"/>
            <a:r>
              <a:rPr sz="1300" b="1">
                <a:solidFill>
                  <a:srgbClr val="FFFFFF"/>
                </a:solidFill>
                <a:latin typeface="Aptos"/>
              </a:rPr>
              <a:t>5</a:t>
            </a:r>
          </a:p>
        </p:txBody>
      </p:sp>
      <p:sp>
        <p:nvSpPr>
          <p:cNvPr id="28" name="TextBox 27"/>
          <p:cNvSpPr txBox="1"/>
          <p:nvPr/>
        </p:nvSpPr>
        <p:spPr>
          <a:xfrm>
            <a:off x="8229600" y="2075688"/>
            <a:ext cx="1325880" cy="274320"/>
          </a:xfrm>
          <a:prstGeom prst="rect">
            <a:avLst/>
          </a:prstGeom>
          <a:noFill/>
        </p:spPr>
        <p:txBody>
          <a:bodyPr wrap="square" lIns="54864" tIns="27432" rIns="54864" bIns="27432">
            <a:spAutoFit/>
          </a:bodyPr>
          <a:lstStyle/>
          <a:p>
            <a:pPr algn="ctr"/>
            <a:r>
              <a:rPr sz="1300" b="1">
                <a:solidFill>
                  <a:srgbClr val="162A46"/>
                </a:solidFill>
                <a:latin typeface="Aptos"/>
              </a:rPr>
              <a:t>Analyze</a:t>
            </a:r>
          </a:p>
        </p:txBody>
      </p:sp>
      <p:sp>
        <p:nvSpPr>
          <p:cNvPr id="29" name="TextBox 28"/>
          <p:cNvSpPr txBox="1"/>
          <p:nvPr/>
        </p:nvSpPr>
        <p:spPr>
          <a:xfrm>
            <a:off x="8202168" y="2487168"/>
            <a:ext cx="1417320" cy="548640"/>
          </a:xfrm>
          <a:prstGeom prst="rect">
            <a:avLst/>
          </a:prstGeom>
          <a:noFill/>
        </p:spPr>
        <p:txBody>
          <a:bodyPr wrap="square" lIns="54864" tIns="27432" rIns="54864" bIns="27432">
            <a:spAutoFit/>
          </a:bodyPr>
          <a:lstStyle/>
          <a:p>
            <a:pPr algn="ctr"/>
            <a:r>
              <a:rPr sz="1100" b="0">
                <a:solidFill>
                  <a:srgbClr val="26303A"/>
                </a:solidFill>
                <a:latin typeface="Aptos"/>
              </a:rPr>
              <a:t>Morris + BFPS</a:t>
            </a:r>
          </a:p>
        </p:txBody>
      </p:sp>
      <p:sp>
        <p:nvSpPr>
          <p:cNvPr id="30" name="Right Arrow 29"/>
          <p:cNvSpPr/>
          <p:nvPr/>
        </p:nvSpPr>
        <p:spPr>
          <a:xfrm>
            <a:off x="9601200" y="1627632"/>
            <a:ext cx="438912" cy="164592"/>
          </a:xfrm>
          <a:prstGeom prst="rightArrow">
            <a:avLst/>
          </a:prstGeom>
          <a:solidFill>
            <a:srgbClr val="ACB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561320" y="1481328"/>
            <a:ext cx="457200" cy="457200"/>
          </a:xfrm>
          <a:prstGeom prst="ellipse">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561320" y="1554480"/>
            <a:ext cx="457200" cy="182880"/>
          </a:xfrm>
          <a:prstGeom prst="rect">
            <a:avLst/>
          </a:prstGeom>
          <a:noFill/>
        </p:spPr>
        <p:txBody>
          <a:bodyPr wrap="square" lIns="54864" tIns="27432" rIns="54864" bIns="27432">
            <a:spAutoFit/>
          </a:bodyPr>
          <a:lstStyle/>
          <a:p>
            <a:pPr algn="ctr"/>
            <a:r>
              <a:rPr sz="1300" b="1">
                <a:solidFill>
                  <a:srgbClr val="FFFFFF"/>
                </a:solidFill>
                <a:latin typeface="Aptos"/>
              </a:rPr>
              <a:t>6</a:t>
            </a:r>
          </a:p>
        </p:txBody>
      </p:sp>
      <p:sp>
        <p:nvSpPr>
          <p:cNvPr id="33" name="TextBox 32"/>
          <p:cNvSpPr txBox="1"/>
          <p:nvPr/>
        </p:nvSpPr>
        <p:spPr>
          <a:xfrm>
            <a:off x="10168128" y="2075688"/>
            <a:ext cx="1325880" cy="274320"/>
          </a:xfrm>
          <a:prstGeom prst="rect">
            <a:avLst/>
          </a:prstGeom>
          <a:noFill/>
        </p:spPr>
        <p:txBody>
          <a:bodyPr wrap="square" lIns="54864" tIns="27432" rIns="54864" bIns="27432">
            <a:spAutoFit/>
          </a:bodyPr>
          <a:lstStyle/>
          <a:p>
            <a:pPr algn="ctr"/>
            <a:r>
              <a:rPr sz="1300" b="1">
                <a:solidFill>
                  <a:srgbClr val="162A46"/>
                </a:solidFill>
                <a:latin typeface="Aptos"/>
              </a:rPr>
              <a:t>Write</a:t>
            </a:r>
          </a:p>
        </p:txBody>
      </p:sp>
      <p:sp>
        <p:nvSpPr>
          <p:cNvPr id="34" name="TextBox 33"/>
          <p:cNvSpPr txBox="1"/>
          <p:nvPr/>
        </p:nvSpPr>
        <p:spPr>
          <a:xfrm>
            <a:off x="10140696" y="2487168"/>
            <a:ext cx="1417320" cy="548640"/>
          </a:xfrm>
          <a:prstGeom prst="rect">
            <a:avLst/>
          </a:prstGeom>
          <a:noFill/>
        </p:spPr>
        <p:txBody>
          <a:bodyPr wrap="square" lIns="54864" tIns="27432" rIns="54864" bIns="27432">
            <a:spAutoFit/>
          </a:bodyPr>
          <a:lstStyle/>
          <a:p>
            <a:pPr algn="ctr"/>
            <a:r>
              <a:rPr sz="1100" b="0">
                <a:solidFill>
                  <a:srgbClr val="26303A"/>
                </a:solidFill>
                <a:latin typeface="Aptos"/>
              </a:rPr>
              <a:t>CSV reports</a:t>
            </a:r>
          </a:p>
        </p:txBody>
      </p:sp>
      <p:sp>
        <p:nvSpPr>
          <p:cNvPr id="35" name="Rounded Rectangle 34"/>
          <p:cNvSpPr/>
          <p:nvPr/>
        </p:nvSpPr>
        <p:spPr>
          <a:xfrm>
            <a:off x="914400" y="3703320"/>
            <a:ext cx="4800600" cy="141732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14400" y="3703320"/>
            <a:ext cx="64008" cy="1417320"/>
          </a:xfrm>
          <a:prstGeom prst="rect">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97280" y="3822191"/>
            <a:ext cx="4480560" cy="270843"/>
          </a:xfrm>
          <a:prstGeom prst="rect">
            <a:avLst/>
          </a:prstGeom>
          <a:noFill/>
        </p:spPr>
        <p:txBody>
          <a:bodyPr wrap="square" lIns="54864" tIns="27432" rIns="54864" bIns="27432">
            <a:spAutoFit/>
          </a:bodyPr>
          <a:lstStyle/>
          <a:p>
            <a:r>
              <a:rPr sz="1400" b="1" dirty="0">
                <a:solidFill>
                  <a:srgbClr val="162A46"/>
                </a:solidFill>
                <a:latin typeface="Aptos"/>
              </a:rPr>
              <a:t>Main entry</a:t>
            </a:r>
          </a:p>
        </p:txBody>
      </p:sp>
      <p:sp>
        <p:nvSpPr>
          <p:cNvPr id="38" name="TextBox 37"/>
          <p:cNvSpPr txBox="1"/>
          <p:nvPr/>
        </p:nvSpPr>
        <p:spPr>
          <a:xfrm>
            <a:off x="1097280" y="4197096"/>
            <a:ext cx="4480560" cy="832104"/>
          </a:xfrm>
          <a:prstGeom prst="rect">
            <a:avLst/>
          </a:prstGeom>
          <a:noFill/>
        </p:spPr>
        <p:txBody>
          <a:bodyPr wrap="square" lIns="54864" tIns="27432" rIns="54864" bIns="27432">
            <a:spAutoFit/>
          </a:bodyPr>
          <a:lstStyle/>
          <a:p>
            <a:r>
              <a:rPr sz="1200" b="0">
                <a:solidFill>
                  <a:srgbClr val="26303A"/>
                </a:solidFill>
                <a:latin typeface="Aptos"/>
              </a:rPr>
              <a:t>Configuration, parameter mapping, baseline capture, model runner, analysis call, and output writing.</a:t>
            </a:r>
          </a:p>
        </p:txBody>
      </p:sp>
      <p:sp>
        <p:nvSpPr>
          <p:cNvPr id="39" name="Rounded Rectangle 38"/>
          <p:cNvSpPr/>
          <p:nvPr/>
        </p:nvSpPr>
        <p:spPr>
          <a:xfrm>
            <a:off x="6446520" y="3703320"/>
            <a:ext cx="4800600" cy="141732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446520" y="3703320"/>
            <a:ext cx="64008" cy="1417320"/>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29400" y="3822191"/>
            <a:ext cx="4480560" cy="270843"/>
          </a:xfrm>
          <a:prstGeom prst="rect">
            <a:avLst/>
          </a:prstGeom>
          <a:noFill/>
        </p:spPr>
        <p:txBody>
          <a:bodyPr wrap="square" lIns="54864" tIns="27432" rIns="54864" bIns="27432">
            <a:spAutoFit/>
          </a:bodyPr>
          <a:lstStyle/>
          <a:p>
            <a:r>
              <a:rPr sz="1400" b="1" dirty="0">
                <a:solidFill>
                  <a:srgbClr val="162A46"/>
                </a:solidFill>
                <a:latin typeface="Aptos"/>
              </a:rPr>
              <a:t>Core engine</a:t>
            </a:r>
          </a:p>
        </p:txBody>
      </p:sp>
      <p:sp>
        <p:nvSpPr>
          <p:cNvPr id="42" name="TextBox 41"/>
          <p:cNvSpPr txBox="1"/>
          <p:nvPr/>
        </p:nvSpPr>
        <p:spPr>
          <a:xfrm>
            <a:off x="6629400" y="4197096"/>
            <a:ext cx="4480560" cy="832104"/>
          </a:xfrm>
          <a:prstGeom prst="rect">
            <a:avLst/>
          </a:prstGeom>
          <a:noFill/>
        </p:spPr>
        <p:txBody>
          <a:bodyPr wrap="square" lIns="54864" tIns="27432" rIns="54864" bIns="27432">
            <a:spAutoFit/>
          </a:bodyPr>
          <a:lstStyle/>
          <a:p>
            <a:r>
              <a:rPr sz="1200" b="0" dirty="0">
                <a:solidFill>
                  <a:srgbClr val="26303A"/>
                </a:solidFill>
                <a:latin typeface="Aptos"/>
              </a:rPr>
              <a:t>Evaluates design points, maps runs to trajectories, computes elementary effects, and invokes BFPS.</a:t>
            </a:r>
          </a:p>
        </p:txBody>
      </p:sp>
      <p:sp>
        <p:nvSpPr>
          <p:cNvPr id="43" name="TextBox 42"/>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44" name="TextBox 43"/>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972800" cy="438912"/>
          </a:xfrm>
          <a:prstGeom prst="rect">
            <a:avLst/>
          </a:prstGeom>
          <a:noFill/>
        </p:spPr>
        <p:txBody>
          <a:bodyPr wrap="square" lIns="54864" tIns="27432" rIns="54864" bIns="27432">
            <a:spAutoFit/>
          </a:bodyPr>
          <a:lstStyle/>
          <a:p>
            <a:r>
              <a:rPr sz="2600" b="1">
                <a:solidFill>
                  <a:srgbClr val="162A46"/>
                </a:solidFill>
                <a:latin typeface="Aptos"/>
              </a:rPr>
              <a:t>3. Parameter mapping and sampling</a:t>
            </a:r>
          </a:p>
        </p:txBody>
      </p:sp>
      <p:sp>
        <p:nvSpPr>
          <p:cNvPr id="3" name="TextBox 2"/>
          <p:cNvSpPr txBox="1"/>
          <p:nvPr/>
        </p:nvSpPr>
        <p:spPr>
          <a:xfrm>
            <a:off x="594360" y="731520"/>
            <a:ext cx="10789920" cy="292608"/>
          </a:xfrm>
          <a:prstGeom prst="rect">
            <a:avLst/>
          </a:prstGeom>
          <a:noFill/>
        </p:spPr>
        <p:txBody>
          <a:bodyPr wrap="square" lIns="54864" tIns="27432" rIns="54864" bIns="27432">
            <a:spAutoFit/>
          </a:bodyPr>
          <a:lstStyle/>
          <a:p>
            <a:r>
              <a:rPr sz="1200" b="0">
                <a:solidFill>
                  <a:srgbClr val="5D6C7A"/>
                </a:solidFill>
                <a:latin typeface="Aptos"/>
              </a:rPr>
              <a:t>Configuration rows are translated into model-ready perturbations.</a:t>
            </a:r>
          </a:p>
        </p:txBody>
      </p:sp>
      <p:sp>
        <p:nvSpPr>
          <p:cNvPr id="4" name="Rectangle 3"/>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INPUTS</a:t>
            </a:r>
          </a:p>
        </p:txBody>
      </p:sp>
      <p:sp>
        <p:nvSpPr>
          <p:cNvPr id="6" name="Rounded Rectangle 5"/>
          <p:cNvSpPr/>
          <p:nvPr/>
        </p:nvSpPr>
        <p:spPr>
          <a:xfrm>
            <a:off x="685800" y="1371600"/>
            <a:ext cx="3429000" cy="201168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371600"/>
            <a:ext cx="64008" cy="2011680"/>
          </a:xfrm>
          <a:prstGeom prst="rect">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490472"/>
            <a:ext cx="3108960" cy="320040"/>
          </a:xfrm>
          <a:prstGeom prst="rect">
            <a:avLst/>
          </a:prstGeom>
          <a:noFill/>
        </p:spPr>
        <p:txBody>
          <a:bodyPr wrap="square" lIns="54864" tIns="27432" rIns="54864" bIns="27432">
            <a:spAutoFit/>
          </a:bodyPr>
          <a:lstStyle/>
          <a:p>
            <a:r>
              <a:rPr sz="1500" b="1">
                <a:solidFill>
                  <a:srgbClr val="162A46"/>
                </a:solidFill>
                <a:latin typeface="Aptos"/>
              </a:rPr>
              <a:t>Configuration</a:t>
            </a:r>
          </a:p>
        </p:txBody>
      </p:sp>
      <p:sp>
        <p:nvSpPr>
          <p:cNvPr id="9" name="TextBox 8"/>
          <p:cNvSpPr txBox="1"/>
          <p:nvPr/>
        </p:nvSpPr>
        <p:spPr>
          <a:xfrm>
            <a:off x="868680" y="1865376"/>
            <a:ext cx="3108960" cy="1426464"/>
          </a:xfrm>
          <a:prstGeom prst="rect">
            <a:avLst/>
          </a:prstGeom>
          <a:noFill/>
        </p:spPr>
        <p:txBody>
          <a:bodyPr wrap="square" lIns="54864" tIns="27432" rIns="54864" bIns="27432">
            <a:spAutoFit/>
          </a:bodyPr>
          <a:lstStyle/>
          <a:p>
            <a:r>
              <a:rPr sz="1200" b="0">
                <a:solidFill>
                  <a:srgbClr val="26303A"/>
                </a:solidFill>
                <a:latin typeface="Aptos"/>
              </a:rPr>
              <a:t>Reads a Method_of_morris CSV variant. Active rows define an uncertainty and its range.</a:t>
            </a:r>
          </a:p>
        </p:txBody>
      </p:sp>
      <p:sp>
        <p:nvSpPr>
          <p:cNvPr id="10" name="Rounded Rectangle 9"/>
          <p:cNvSpPr/>
          <p:nvPr/>
        </p:nvSpPr>
        <p:spPr>
          <a:xfrm>
            <a:off x="4370832" y="1371600"/>
            <a:ext cx="3429000" cy="201168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0832" y="1371600"/>
            <a:ext cx="64008" cy="2011680"/>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53712" y="1490472"/>
            <a:ext cx="3108960" cy="320040"/>
          </a:xfrm>
          <a:prstGeom prst="rect">
            <a:avLst/>
          </a:prstGeom>
          <a:noFill/>
        </p:spPr>
        <p:txBody>
          <a:bodyPr wrap="square" lIns="54864" tIns="27432" rIns="54864" bIns="27432">
            <a:spAutoFit/>
          </a:bodyPr>
          <a:lstStyle/>
          <a:p>
            <a:r>
              <a:rPr sz="1500" b="1">
                <a:solidFill>
                  <a:srgbClr val="162A46"/>
                </a:solidFill>
                <a:latin typeface="Aptos"/>
              </a:rPr>
              <a:t>Parameter resolution</a:t>
            </a:r>
          </a:p>
        </p:txBody>
      </p:sp>
      <p:sp>
        <p:nvSpPr>
          <p:cNvPr id="13" name="TextBox 12"/>
          <p:cNvSpPr txBox="1"/>
          <p:nvPr/>
        </p:nvSpPr>
        <p:spPr>
          <a:xfrm>
            <a:off x="4553712" y="1865376"/>
            <a:ext cx="3108960" cy="1426464"/>
          </a:xfrm>
          <a:prstGeom prst="rect">
            <a:avLst/>
          </a:prstGeom>
          <a:noFill/>
        </p:spPr>
        <p:txBody>
          <a:bodyPr wrap="square" lIns="54864" tIns="27432" rIns="54864" bIns="27432">
            <a:spAutoFit/>
          </a:bodyPr>
          <a:lstStyle/>
          <a:p>
            <a:r>
              <a:rPr sz="1200" b="0">
                <a:solidFill>
                  <a:srgbClr val="26303A"/>
                </a:solidFill>
                <a:latin typeface="Aptos"/>
              </a:rPr>
              <a:t>Helpers map names to resources, fuels, demand, policy matrices, or network inputs.</a:t>
            </a:r>
          </a:p>
        </p:txBody>
      </p:sp>
      <p:sp>
        <p:nvSpPr>
          <p:cNvPr id="14" name="Rounded Rectangle 13"/>
          <p:cNvSpPr/>
          <p:nvPr/>
        </p:nvSpPr>
        <p:spPr>
          <a:xfrm>
            <a:off x="8046720" y="1371600"/>
            <a:ext cx="3429000" cy="201168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371600"/>
            <a:ext cx="64008" cy="2011680"/>
          </a:xfrm>
          <a:prstGeom prst="rect">
            <a:avLst/>
          </a:prstGeom>
          <a:solidFill>
            <a:srgbClr val="E0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490472"/>
            <a:ext cx="3108960" cy="320040"/>
          </a:xfrm>
          <a:prstGeom prst="rect">
            <a:avLst/>
          </a:prstGeom>
          <a:noFill/>
        </p:spPr>
        <p:txBody>
          <a:bodyPr wrap="square" lIns="54864" tIns="27432" rIns="54864" bIns="27432">
            <a:spAutoFit/>
          </a:bodyPr>
          <a:lstStyle/>
          <a:p>
            <a:r>
              <a:rPr sz="1500" b="1">
                <a:solidFill>
                  <a:srgbClr val="162A46"/>
                </a:solidFill>
                <a:latin typeface="Aptos"/>
              </a:rPr>
              <a:t>Trajectory design</a:t>
            </a:r>
          </a:p>
        </p:txBody>
      </p:sp>
      <p:sp>
        <p:nvSpPr>
          <p:cNvPr id="17" name="TextBox 16"/>
          <p:cNvSpPr txBox="1"/>
          <p:nvPr/>
        </p:nvSpPr>
        <p:spPr>
          <a:xfrm>
            <a:off x="8229600" y="1865376"/>
            <a:ext cx="3108960" cy="609398"/>
          </a:xfrm>
          <a:prstGeom prst="rect">
            <a:avLst/>
          </a:prstGeom>
          <a:noFill/>
        </p:spPr>
        <p:txBody>
          <a:bodyPr wrap="square" lIns="54864" tIns="27432" rIns="54864" bIns="27432">
            <a:spAutoFit/>
          </a:bodyPr>
          <a:lstStyle/>
          <a:p>
            <a:r>
              <a:rPr lang="en-US" sz="1200" dirty="0">
                <a:solidFill>
                  <a:srgbClr val="26303A"/>
                </a:solidFill>
                <a:latin typeface="Aptos"/>
              </a:rPr>
              <a:t>B</a:t>
            </a:r>
            <a:r>
              <a:rPr sz="1200" b="0" dirty="0">
                <a:solidFill>
                  <a:srgbClr val="26303A"/>
                </a:solidFill>
                <a:latin typeface="Aptos"/>
              </a:rPr>
              <a:t>uilds a trajectory; scores spread; </a:t>
            </a:r>
            <a:r>
              <a:rPr lang="en-US" sz="1200" dirty="0">
                <a:solidFill>
                  <a:srgbClr val="26303A"/>
                </a:solidFill>
                <a:latin typeface="Aptos"/>
              </a:rPr>
              <a:t>g</a:t>
            </a:r>
            <a:r>
              <a:rPr sz="1200" b="0" dirty="0">
                <a:solidFill>
                  <a:srgbClr val="26303A"/>
                </a:solidFill>
                <a:latin typeface="Aptos"/>
              </a:rPr>
              <a:t>enerates candidates and retains high-spread trajectories.</a:t>
            </a:r>
          </a:p>
        </p:txBody>
      </p:sp>
      <p:sp>
        <p:nvSpPr>
          <p:cNvPr id="18" name="TextBox 17"/>
          <p:cNvSpPr txBox="1"/>
          <p:nvPr/>
        </p:nvSpPr>
        <p:spPr>
          <a:xfrm>
            <a:off x="914400" y="3840480"/>
            <a:ext cx="10058400" cy="320040"/>
          </a:xfrm>
          <a:prstGeom prst="rect">
            <a:avLst/>
          </a:prstGeom>
          <a:noFill/>
        </p:spPr>
        <p:txBody>
          <a:bodyPr wrap="square" lIns="54864" tIns="27432" rIns="54864" bIns="27432">
            <a:spAutoFit/>
          </a:bodyPr>
          <a:lstStyle/>
          <a:p>
            <a:r>
              <a:rPr sz="1700" b="1">
                <a:solidFill>
                  <a:srgbClr val="162A46"/>
                </a:solidFill>
                <a:latin typeface="Aptos"/>
              </a:rPr>
              <a:t>Implementation details</a:t>
            </a:r>
          </a:p>
        </p:txBody>
      </p:sp>
      <p:sp>
        <p:nvSpPr>
          <p:cNvPr id="19" name="TextBox 18"/>
          <p:cNvSpPr txBox="1"/>
          <p:nvPr/>
        </p:nvSpPr>
        <p:spPr>
          <a:xfrm>
            <a:off x="914400" y="4114800"/>
            <a:ext cx="10332720" cy="1463040"/>
          </a:xfrm>
          <a:prstGeom prst="rect">
            <a:avLst/>
          </a:prstGeom>
          <a:noFill/>
        </p:spPr>
        <p:txBody>
          <a:bodyPr wrap="square">
            <a:spAutoFit/>
          </a:bodyPr>
          <a:lstStyle/>
          <a:p>
            <a:pPr>
              <a:spcAft>
                <a:spcPts val="700"/>
              </a:spcAft>
              <a:defRPr sz="1400">
                <a:solidFill>
                  <a:srgbClr val="26303A"/>
                </a:solidFill>
                <a:latin typeface="Aptos"/>
              </a:defRPr>
            </a:pPr>
            <a:r>
              <a:t>Discrete planning states and continuous scaling parameters can require different mapping logic.</a:t>
            </a:r>
          </a:p>
          <a:p>
            <a:pPr>
              <a:spcAft>
                <a:spcPts val="700"/>
              </a:spcAft>
              <a:defRPr sz="1400">
                <a:solidFill>
                  <a:srgbClr val="26303A"/>
                </a:solidFill>
                <a:latin typeface="Aptos"/>
              </a:defRPr>
            </a:pPr>
            <a:r>
              <a:t>Zone-specific names are parsed and matched to eligible rows or network indices.</a:t>
            </a:r>
          </a:p>
          <a:p>
            <a:pPr>
              <a:spcAft>
                <a:spcPts val="700"/>
              </a:spcAft>
              <a:defRPr sz="1400">
                <a:solidFill>
                  <a:srgbClr val="26303A"/>
                </a:solidFill>
                <a:latin typeface="Aptos"/>
              </a:defRPr>
            </a:pPr>
            <a:r>
              <a:t>Baseline values are retained so each sampled point can be applied consistently.</a:t>
            </a:r>
          </a:p>
        </p:txBody>
      </p:sp>
      <p:sp>
        <p:nvSpPr>
          <p:cNvPr id="20" name="TextBox 19"/>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21" name="TextBox 20"/>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972800" cy="438912"/>
          </a:xfrm>
          <a:prstGeom prst="rect">
            <a:avLst/>
          </a:prstGeom>
          <a:noFill/>
        </p:spPr>
        <p:txBody>
          <a:bodyPr wrap="square" lIns="54864" tIns="27432" rIns="54864" bIns="27432">
            <a:spAutoFit/>
          </a:bodyPr>
          <a:lstStyle/>
          <a:p>
            <a:r>
              <a:rPr sz="2600" b="1">
                <a:solidFill>
                  <a:srgbClr val="162A46"/>
                </a:solidFill>
                <a:latin typeface="Aptos"/>
              </a:rPr>
              <a:t>4. The GenX model-run loop</a:t>
            </a:r>
          </a:p>
        </p:txBody>
      </p:sp>
      <p:sp>
        <p:nvSpPr>
          <p:cNvPr id="3" name="TextBox 2"/>
          <p:cNvSpPr txBox="1"/>
          <p:nvPr/>
        </p:nvSpPr>
        <p:spPr>
          <a:xfrm>
            <a:off x="594360" y="731520"/>
            <a:ext cx="10789920" cy="240066"/>
          </a:xfrm>
          <a:prstGeom prst="rect">
            <a:avLst/>
          </a:prstGeom>
          <a:noFill/>
        </p:spPr>
        <p:txBody>
          <a:bodyPr wrap="square" lIns="54864" tIns="27432" rIns="54864" bIns="27432">
            <a:spAutoFit/>
          </a:bodyPr>
          <a:lstStyle/>
          <a:p>
            <a:r>
              <a:rPr sz="1200" b="0" dirty="0">
                <a:solidFill>
                  <a:srgbClr val="5D6C7A"/>
                </a:solidFill>
                <a:latin typeface="Aptos"/>
              </a:rPr>
              <a:t>Th</a:t>
            </a:r>
            <a:r>
              <a:rPr lang="en-US" sz="1200" b="0" dirty="0">
                <a:solidFill>
                  <a:srgbClr val="5D6C7A"/>
                </a:solidFill>
                <a:latin typeface="Aptos"/>
              </a:rPr>
              <a:t>e closure evaluates one sampled vector</a:t>
            </a:r>
            <a:r>
              <a:rPr sz="1200" b="0" dirty="0">
                <a:solidFill>
                  <a:srgbClr val="5D6C7A"/>
                </a:solidFill>
                <a:latin typeface="Aptos"/>
              </a:rPr>
              <a:t>.</a:t>
            </a:r>
          </a:p>
        </p:txBody>
      </p:sp>
      <p:sp>
        <p:nvSpPr>
          <p:cNvPr id="4" name="Rectangle 3"/>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MODEL</a:t>
            </a:r>
          </a:p>
        </p:txBody>
      </p:sp>
      <p:sp>
        <p:nvSpPr>
          <p:cNvPr id="6" name="Rounded Rectangle 5"/>
          <p:cNvSpPr/>
          <p:nvPr/>
        </p:nvSpPr>
        <p:spPr>
          <a:xfrm>
            <a:off x="594360" y="1463040"/>
            <a:ext cx="2606040" cy="205740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463040"/>
            <a:ext cx="64008" cy="2057400"/>
          </a:xfrm>
          <a:prstGeom prst="rect">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81912"/>
            <a:ext cx="2286000" cy="320040"/>
          </a:xfrm>
          <a:prstGeom prst="rect">
            <a:avLst/>
          </a:prstGeom>
          <a:noFill/>
        </p:spPr>
        <p:txBody>
          <a:bodyPr wrap="square" lIns="54864" tIns="27432" rIns="54864" bIns="27432">
            <a:spAutoFit/>
          </a:bodyPr>
          <a:lstStyle/>
          <a:p>
            <a:r>
              <a:rPr sz="1400" b="1">
                <a:solidFill>
                  <a:srgbClr val="162A46"/>
                </a:solidFill>
                <a:latin typeface="Aptos"/>
              </a:rPr>
              <a:t>A. Apply sample</a:t>
            </a:r>
          </a:p>
        </p:txBody>
      </p:sp>
      <p:sp>
        <p:nvSpPr>
          <p:cNvPr id="9" name="TextBox 8"/>
          <p:cNvSpPr txBox="1"/>
          <p:nvPr/>
        </p:nvSpPr>
        <p:spPr>
          <a:xfrm>
            <a:off x="777240" y="1956816"/>
            <a:ext cx="2286000" cy="1472184"/>
          </a:xfrm>
          <a:prstGeom prst="rect">
            <a:avLst/>
          </a:prstGeom>
          <a:noFill/>
        </p:spPr>
        <p:txBody>
          <a:bodyPr wrap="square" lIns="54864" tIns="27432" rIns="54864" bIns="27432">
            <a:spAutoFit/>
          </a:bodyPr>
          <a:lstStyle/>
          <a:p>
            <a:r>
              <a:rPr sz="1200" b="0">
                <a:solidFill>
                  <a:srgbClr val="26303A"/>
                </a:solidFill>
                <a:latin typeface="Aptos"/>
              </a:rPr>
              <a:t>Update resources, demand, policy matrices, and/or network arrays.</a:t>
            </a:r>
          </a:p>
        </p:txBody>
      </p:sp>
      <p:sp>
        <p:nvSpPr>
          <p:cNvPr id="10" name="Rounded Rectangle 9"/>
          <p:cNvSpPr/>
          <p:nvPr/>
        </p:nvSpPr>
        <p:spPr>
          <a:xfrm>
            <a:off x="3502152" y="1463040"/>
            <a:ext cx="2606040" cy="205740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02152" y="1463040"/>
            <a:ext cx="64008" cy="2057400"/>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85032" y="1581912"/>
            <a:ext cx="2286000" cy="320040"/>
          </a:xfrm>
          <a:prstGeom prst="rect">
            <a:avLst/>
          </a:prstGeom>
          <a:noFill/>
        </p:spPr>
        <p:txBody>
          <a:bodyPr wrap="square" lIns="54864" tIns="27432" rIns="54864" bIns="27432">
            <a:spAutoFit/>
          </a:bodyPr>
          <a:lstStyle/>
          <a:p>
            <a:r>
              <a:rPr sz="1400" b="1">
                <a:solidFill>
                  <a:srgbClr val="162A46"/>
                </a:solidFill>
                <a:latin typeface="Aptos"/>
              </a:rPr>
              <a:t>B. Refresh sets</a:t>
            </a:r>
          </a:p>
        </p:txBody>
      </p:sp>
      <p:sp>
        <p:nvSpPr>
          <p:cNvPr id="13" name="TextBox 12"/>
          <p:cNvSpPr txBox="1"/>
          <p:nvPr/>
        </p:nvSpPr>
        <p:spPr>
          <a:xfrm>
            <a:off x="3685032" y="1956816"/>
            <a:ext cx="2286000" cy="1472184"/>
          </a:xfrm>
          <a:prstGeom prst="rect">
            <a:avLst/>
          </a:prstGeom>
          <a:noFill/>
        </p:spPr>
        <p:txBody>
          <a:bodyPr wrap="square" lIns="54864" tIns="27432" rIns="54864" bIns="27432">
            <a:spAutoFit/>
          </a:bodyPr>
          <a:lstStyle/>
          <a:p>
            <a:r>
              <a:rPr sz="1200" b="0">
                <a:solidFill>
                  <a:srgbClr val="26303A"/>
                </a:solidFill>
                <a:latin typeface="Aptos"/>
              </a:rPr>
              <a:t>Refresh RET_CAP, NEW_CAP, RETROFIT and derived network arrays.</a:t>
            </a:r>
          </a:p>
        </p:txBody>
      </p:sp>
      <p:sp>
        <p:nvSpPr>
          <p:cNvPr id="14" name="Rounded Rectangle 13"/>
          <p:cNvSpPr/>
          <p:nvPr/>
        </p:nvSpPr>
        <p:spPr>
          <a:xfrm>
            <a:off x="6409944" y="1463040"/>
            <a:ext cx="2606040" cy="205740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9944" y="1463040"/>
            <a:ext cx="64008" cy="2057400"/>
          </a:xfrm>
          <a:prstGeom prst="rect">
            <a:avLst/>
          </a:prstGeom>
          <a:solidFill>
            <a:srgbClr val="E0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92824" y="1581912"/>
            <a:ext cx="2286000" cy="320040"/>
          </a:xfrm>
          <a:prstGeom prst="rect">
            <a:avLst/>
          </a:prstGeom>
          <a:noFill/>
        </p:spPr>
        <p:txBody>
          <a:bodyPr wrap="square" lIns="54864" tIns="27432" rIns="54864" bIns="27432">
            <a:spAutoFit/>
          </a:bodyPr>
          <a:lstStyle/>
          <a:p>
            <a:r>
              <a:rPr sz="1400" b="1">
                <a:solidFill>
                  <a:srgbClr val="162A46"/>
                </a:solidFill>
                <a:latin typeface="Aptos"/>
              </a:rPr>
              <a:t>C. Solve GenX</a:t>
            </a:r>
          </a:p>
        </p:txBody>
      </p:sp>
      <p:sp>
        <p:nvSpPr>
          <p:cNvPr id="17" name="TextBox 16"/>
          <p:cNvSpPr txBox="1"/>
          <p:nvPr/>
        </p:nvSpPr>
        <p:spPr>
          <a:xfrm>
            <a:off x="6592824" y="1956816"/>
            <a:ext cx="2286000" cy="1472184"/>
          </a:xfrm>
          <a:prstGeom prst="rect">
            <a:avLst/>
          </a:prstGeom>
          <a:noFill/>
        </p:spPr>
        <p:txBody>
          <a:bodyPr wrap="square" lIns="54864" tIns="27432" rIns="54864" bIns="27432">
            <a:spAutoFit/>
          </a:bodyPr>
          <a:lstStyle/>
          <a:p>
            <a:r>
              <a:rPr sz="1200" b="0">
                <a:solidFill>
                  <a:srgbClr val="26303A"/>
                </a:solidFill>
                <a:latin typeface="Aptos"/>
              </a:rPr>
              <a:t>Build and solve the optimization model; retry specified transient solver/token errors.</a:t>
            </a:r>
          </a:p>
        </p:txBody>
      </p:sp>
      <p:sp>
        <p:nvSpPr>
          <p:cNvPr id="18" name="Rounded Rectangle 17"/>
          <p:cNvSpPr/>
          <p:nvPr/>
        </p:nvSpPr>
        <p:spPr>
          <a:xfrm>
            <a:off x="9317736" y="1463040"/>
            <a:ext cx="2606040" cy="205740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17736" y="1463040"/>
            <a:ext cx="64008" cy="2057400"/>
          </a:xfrm>
          <a:prstGeom prst="rect">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00616" y="1581912"/>
            <a:ext cx="2286000" cy="320040"/>
          </a:xfrm>
          <a:prstGeom prst="rect">
            <a:avLst/>
          </a:prstGeom>
          <a:noFill/>
        </p:spPr>
        <p:txBody>
          <a:bodyPr wrap="square" lIns="54864" tIns="27432" rIns="54864" bIns="27432">
            <a:spAutoFit/>
          </a:bodyPr>
          <a:lstStyle/>
          <a:p>
            <a:r>
              <a:rPr sz="1400" b="1">
                <a:solidFill>
                  <a:srgbClr val="162A46"/>
                </a:solidFill>
                <a:latin typeface="Aptos"/>
              </a:rPr>
              <a:t>D. Return vector</a:t>
            </a:r>
          </a:p>
        </p:txBody>
      </p:sp>
      <p:sp>
        <p:nvSpPr>
          <p:cNvPr id="21" name="TextBox 20"/>
          <p:cNvSpPr txBox="1"/>
          <p:nvPr/>
        </p:nvSpPr>
        <p:spPr>
          <a:xfrm>
            <a:off x="9500616" y="1956816"/>
            <a:ext cx="2286000" cy="1472184"/>
          </a:xfrm>
          <a:prstGeom prst="rect">
            <a:avLst/>
          </a:prstGeom>
          <a:noFill/>
        </p:spPr>
        <p:txBody>
          <a:bodyPr wrap="square" lIns="54864" tIns="27432" rIns="54864" bIns="27432">
            <a:spAutoFit/>
          </a:bodyPr>
          <a:lstStyle/>
          <a:p>
            <a:r>
              <a:rPr sz="1200" b="0">
                <a:solidFill>
                  <a:srgbClr val="26303A"/>
                </a:solidFill>
                <a:latin typeface="Aptos"/>
              </a:rPr>
              <a:t>Collect system and zonal outputs into one output vector.</a:t>
            </a:r>
          </a:p>
        </p:txBody>
      </p:sp>
      <p:sp>
        <p:nvSpPr>
          <p:cNvPr id="22" name="TextBox 21"/>
          <p:cNvSpPr txBox="1"/>
          <p:nvPr/>
        </p:nvSpPr>
        <p:spPr>
          <a:xfrm>
            <a:off x="914400" y="4069080"/>
            <a:ext cx="10332720" cy="609398"/>
          </a:xfrm>
          <a:prstGeom prst="rect">
            <a:avLst/>
          </a:prstGeom>
          <a:noFill/>
        </p:spPr>
        <p:txBody>
          <a:bodyPr wrap="square" lIns="54864" tIns="27432" rIns="54864" bIns="27432">
            <a:spAutoFit/>
          </a:bodyPr>
          <a:lstStyle/>
          <a:p>
            <a:pPr algn="ctr"/>
            <a:r>
              <a:rPr sz="1800" b="1" dirty="0">
                <a:solidFill>
                  <a:srgbClr val="162A46"/>
                </a:solidFill>
                <a:latin typeface="Aptos"/>
              </a:rPr>
              <a:t>Design principle: </a:t>
            </a:r>
            <a:r>
              <a:rPr lang="en-US" dirty="0"/>
              <a:t>Each GenX run must use the intended parameter values and scenario configuration, independent of previous runs.</a:t>
            </a:r>
            <a:endParaRPr sz="1800" b="1" dirty="0">
              <a:solidFill>
                <a:srgbClr val="162A46"/>
              </a:solidFill>
              <a:latin typeface="Aptos"/>
            </a:endParaRPr>
          </a:p>
        </p:txBody>
      </p:sp>
      <p:sp>
        <p:nvSpPr>
          <p:cNvPr id="23" name="TextBox 22"/>
          <p:cNvSpPr txBox="1"/>
          <p:nvPr/>
        </p:nvSpPr>
        <p:spPr>
          <a:xfrm>
            <a:off x="1005840" y="4846320"/>
            <a:ext cx="10149840" cy="502920"/>
          </a:xfrm>
          <a:prstGeom prst="rect">
            <a:avLst/>
          </a:prstGeom>
          <a:noFill/>
        </p:spPr>
        <p:txBody>
          <a:bodyPr wrap="square" lIns="54864" tIns="27432" rIns="54864" bIns="27432">
            <a:spAutoFit/>
          </a:bodyPr>
          <a:lstStyle/>
          <a:p>
            <a:pPr algn="ctr"/>
            <a:r>
              <a:rPr sz="1400" b="0">
                <a:solidFill>
                  <a:srgbClr val="5D6C7A"/>
                </a:solidFill>
                <a:latin typeface="Aptos"/>
              </a:rPr>
              <a:t>Baseline snapshots and dependent-set refreshes help keep each evaluation internally consistent.</a:t>
            </a:r>
          </a:p>
        </p:txBody>
      </p:sp>
      <p:sp>
        <p:nvSpPr>
          <p:cNvPr id="24" name="TextBox 23"/>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25" name="TextBox 24"/>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972800" cy="438912"/>
          </a:xfrm>
          <a:prstGeom prst="rect">
            <a:avLst/>
          </a:prstGeom>
          <a:noFill/>
        </p:spPr>
        <p:txBody>
          <a:bodyPr wrap="square" lIns="54864" tIns="27432" rIns="54864" bIns="27432">
            <a:spAutoFit/>
          </a:bodyPr>
          <a:lstStyle/>
          <a:p>
            <a:r>
              <a:rPr sz="2600" b="1">
                <a:solidFill>
                  <a:srgbClr val="162A46"/>
                </a:solidFill>
                <a:latin typeface="Aptos"/>
              </a:rPr>
              <a:t>5. What the code measures</a:t>
            </a:r>
          </a:p>
        </p:txBody>
      </p:sp>
      <p:sp>
        <p:nvSpPr>
          <p:cNvPr id="3" name="TextBox 2"/>
          <p:cNvSpPr txBox="1"/>
          <p:nvPr/>
        </p:nvSpPr>
        <p:spPr>
          <a:xfrm>
            <a:off x="594360" y="731520"/>
            <a:ext cx="10789920" cy="292608"/>
          </a:xfrm>
          <a:prstGeom prst="rect">
            <a:avLst/>
          </a:prstGeom>
          <a:noFill/>
        </p:spPr>
        <p:txBody>
          <a:bodyPr wrap="square" lIns="54864" tIns="27432" rIns="54864" bIns="27432">
            <a:spAutoFit/>
          </a:bodyPr>
          <a:lstStyle/>
          <a:p>
            <a:r>
              <a:rPr sz="1200" b="0">
                <a:solidFill>
                  <a:srgbClr val="5D6C7A"/>
                </a:solidFill>
                <a:latin typeface="Aptos"/>
              </a:rPr>
              <a:t>A multi-output design: system metrics plus zonal metrics.</a:t>
            </a:r>
          </a:p>
        </p:txBody>
      </p:sp>
      <p:sp>
        <p:nvSpPr>
          <p:cNvPr id="4" name="Rectangle 3"/>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OUTPUTS</a:t>
            </a:r>
          </a:p>
        </p:txBody>
      </p:sp>
      <p:sp>
        <p:nvSpPr>
          <p:cNvPr id="6" name="Rounded Rectangle 5"/>
          <p:cNvSpPr/>
          <p:nvPr/>
        </p:nvSpPr>
        <p:spPr>
          <a:xfrm>
            <a:off x="685800" y="1417320"/>
            <a:ext cx="5257800" cy="233172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64008" cy="2331720"/>
          </a:xfrm>
          <a:prstGeom prst="rect">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36192"/>
            <a:ext cx="4937760" cy="301621"/>
          </a:xfrm>
          <a:prstGeom prst="rect">
            <a:avLst/>
          </a:prstGeom>
          <a:noFill/>
        </p:spPr>
        <p:txBody>
          <a:bodyPr wrap="square" lIns="54864" tIns="27432" rIns="54864" bIns="27432">
            <a:spAutoFit/>
          </a:bodyPr>
          <a:lstStyle/>
          <a:p>
            <a:r>
              <a:rPr sz="1600" b="1" dirty="0">
                <a:solidFill>
                  <a:srgbClr val="162A46"/>
                </a:solidFill>
                <a:latin typeface="Aptos"/>
              </a:rPr>
              <a:t>System KPI vector</a:t>
            </a:r>
          </a:p>
        </p:txBody>
      </p:sp>
      <p:sp>
        <p:nvSpPr>
          <p:cNvPr id="9" name="TextBox 8"/>
          <p:cNvSpPr txBox="1"/>
          <p:nvPr/>
        </p:nvSpPr>
        <p:spPr>
          <a:xfrm>
            <a:off x="868680" y="1911095"/>
            <a:ext cx="4937760" cy="1746503"/>
          </a:xfrm>
          <a:prstGeom prst="rect">
            <a:avLst/>
          </a:prstGeom>
          <a:noFill/>
        </p:spPr>
        <p:txBody>
          <a:bodyPr wrap="square" lIns="54864" tIns="27432" rIns="54864" bIns="27432">
            <a:spAutoFit/>
          </a:bodyPr>
          <a:lstStyle/>
          <a:p>
            <a:r>
              <a:rPr sz="1400" b="0">
                <a:solidFill>
                  <a:srgbClr val="26303A"/>
                </a:solidFill>
                <a:latin typeface="Aptos"/>
              </a:rPr>
              <a:t>Examples: system cost and emissions; price and curtailment; firm capacity; transmission expansion, flow, and losses.</a:t>
            </a:r>
          </a:p>
        </p:txBody>
      </p:sp>
      <p:sp>
        <p:nvSpPr>
          <p:cNvPr id="10" name="Rounded Rectangle 9"/>
          <p:cNvSpPr/>
          <p:nvPr/>
        </p:nvSpPr>
        <p:spPr>
          <a:xfrm>
            <a:off x="6217920" y="1417320"/>
            <a:ext cx="5257800" cy="233172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417320"/>
            <a:ext cx="64008" cy="2331720"/>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536192"/>
            <a:ext cx="4937760" cy="301621"/>
          </a:xfrm>
          <a:prstGeom prst="rect">
            <a:avLst/>
          </a:prstGeom>
          <a:noFill/>
        </p:spPr>
        <p:txBody>
          <a:bodyPr wrap="square" lIns="54864" tIns="27432" rIns="54864" bIns="27432">
            <a:spAutoFit/>
          </a:bodyPr>
          <a:lstStyle/>
          <a:p>
            <a:r>
              <a:rPr sz="1600" b="1" dirty="0">
                <a:solidFill>
                  <a:srgbClr val="162A46"/>
                </a:solidFill>
                <a:latin typeface="Aptos"/>
              </a:rPr>
              <a:t>Zonal KPI vector</a:t>
            </a:r>
          </a:p>
        </p:txBody>
      </p:sp>
      <p:sp>
        <p:nvSpPr>
          <p:cNvPr id="13" name="TextBox 12"/>
          <p:cNvSpPr txBox="1"/>
          <p:nvPr/>
        </p:nvSpPr>
        <p:spPr>
          <a:xfrm>
            <a:off x="6400800" y="1911095"/>
            <a:ext cx="4937760" cy="1746503"/>
          </a:xfrm>
          <a:prstGeom prst="rect">
            <a:avLst/>
          </a:prstGeom>
          <a:noFill/>
        </p:spPr>
        <p:txBody>
          <a:bodyPr wrap="square" lIns="54864" tIns="27432" rIns="54864" bIns="27432">
            <a:spAutoFit/>
          </a:bodyPr>
          <a:lstStyle/>
          <a:p>
            <a:r>
              <a:rPr sz="1400" b="0">
                <a:solidFill>
                  <a:srgbClr val="26303A"/>
                </a:solidFill>
                <a:latin typeface="Aptos"/>
              </a:rPr>
              <a:t>Zone-specific measures such as Cost_Z1, Cost_Z2, emissions, price, curtailment, firm capacity, flow, and losses.</a:t>
            </a:r>
          </a:p>
        </p:txBody>
      </p:sp>
      <p:sp>
        <p:nvSpPr>
          <p:cNvPr id="14" name="TextBox 13"/>
          <p:cNvSpPr txBox="1"/>
          <p:nvPr/>
        </p:nvSpPr>
        <p:spPr>
          <a:xfrm>
            <a:off x="914400" y="4206240"/>
            <a:ext cx="10332720" cy="365760"/>
          </a:xfrm>
          <a:prstGeom prst="rect">
            <a:avLst/>
          </a:prstGeom>
          <a:noFill/>
        </p:spPr>
        <p:txBody>
          <a:bodyPr wrap="square" lIns="54864" tIns="27432" rIns="54864" bIns="27432">
            <a:spAutoFit/>
          </a:bodyPr>
          <a:lstStyle/>
          <a:p>
            <a:r>
              <a:rPr sz="1800" b="1">
                <a:solidFill>
                  <a:srgbClr val="162A46"/>
                </a:solidFill>
                <a:latin typeface="Aptos"/>
              </a:rPr>
              <a:t>Why zonal outputs matter</a:t>
            </a:r>
          </a:p>
        </p:txBody>
      </p:sp>
      <p:sp>
        <p:nvSpPr>
          <p:cNvPr id="15" name="TextBox 14"/>
          <p:cNvSpPr txBox="1"/>
          <p:nvPr/>
        </p:nvSpPr>
        <p:spPr>
          <a:xfrm>
            <a:off x="914400" y="4663440"/>
            <a:ext cx="10332720" cy="685800"/>
          </a:xfrm>
          <a:prstGeom prst="rect">
            <a:avLst/>
          </a:prstGeom>
          <a:noFill/>
        </p:spPr>
        <p:txBody>
          <a:bodyPr wrap="square" lIns="54864" tIns="27432" rIns="54864" bIns="27432">
            <a:spAutoFit/>
          </a:bodyPr>
          <a:lstStyle/>
          <a:p>
            <a:r>
              <a:rPr sz="1600" b="0">
                <a:solidFill>
                  <a:srgbClr val="26303A"/>
                </a:solidFill>
                <a:latin typeface="Aptos"/>
              </a:rPr>
              <a:t>A system-wide metric can conceal localized effects. Zonal outputs help show where a parameter's modeled influence appears.</a:t>
            </a:r>
          </a:p>
        </p:txBody>
      </p:sp>
      <p:sp>
        <p:nvSpPr>
          <p:cNvPr id="16" name="TextBox 15"/>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17" name="TextBox 16"/>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6A433E4-1775-FA45-50C8-F0112F0012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BCFF156-BC27-17A0-CA8D-F064340A683B}"/>
              </a:ext>
            </a:extLst>
          </p:cNvPr>
          <p:cNvSpPr txBox="1"/>
          <p:nvPr/>
        </p:nvSpPr>
        <p:spPr>
          <a:xfrm>
            <a:off x="566928" y="256032"/>
            <a:ext cx="10972800" cy="455509"/>
          </a:xfrm>
          <a:prstGeom prst="rect">
            <a:avLst/>
          </a:prstGeom>
          <a:noFill/>
        </p:spPr>
        <p:txBody>
          <a:bodyPr wrap="square" lIns="54864" tIns="27432" rIns="54864" bIns="27432">
            <a:spAutoFit/>
          </a:bodyPr>
          <a:lstStyle/>
          <a:p>
            <a:r>
              <a:rPr lang="en-US" sz="2600" b="1" dirty="0">
                <a:solidFill>
                  <a:srgbClr val="162A46"/>
                </a:solidFill>
                <a:latin typeface="Aptos"/>
              </a:rPr>
              <a:t>6</a:t>
            </a:r>
            <a:r>
              <a:rPr sz="2600" b="1" dirty="0">
                <a:solidFill>
                  <a:srgbClr val="162A46"/>
                </a:solidFill>
                <a:latin typeface="Aptos"/>
              </a:rPr>
              <a:t>. </a:t>
            </a:r>
            <a:r>
              <a:rPr lang="en-US" sz="2600" b="1" dirty="0">
                <a:solidFill>
                  <a:srgbClr val="162A46"/>
                </a:solidFill>
                <a:latin typeface="Aptos"/>
              </a:rPr>
              <a:t>Morris - BFPS Optimal Transport</a:t>
            </a:r>
            <a:endParaRPr sz="2600" b="1" dirty="0">
              <a:solidFill>
                <a:srgbClr val="162A46"/>
              </a:solidFill>
              <a:latin typeface="Aptos"/>
            </a:endParaRPr>
          </a:p>
        </p:txBody>
      </p:sp>
      <p:sp>
        <p:nvSpPr>
          <p:cNvPr id="3" name="TextBox 2">
            <a:extLst>
              <a:ext uri="{FF2B5EF4-FFF2-40B4-BE49-F238E27FC236}">
                <a16:creationId xmlns:a16="http://schemas.microsoft.com/office/drawing/2014/main" id="{3D0A2BDA-9F16-1DF4-8C29-70E34E3A0873}"/>
              </a:ext>
            </a:extLst>
          </p:cNvPr>
          <p:cNvSpPr txBox="1"/>
          <p:nvPr/>
        </p:nvSpPr>
        <p:spPr>
          <a:xfrm>
            <a:off x="594360" y="731520"/>
            <a:ext cx="10789920" cy="240066"/>
          </a:xfrm>
          <a:prstGeom prst="rect">
            <a:avLst/>
          </a:prstGeom>
          <a:noFill/>
        </p:spPr>
        <p:txBody>
          <a:bodyPr wrap="square" lIns="54864" tIns="27432" rIns="54864" bIns="27432">
            <a:spAutoFit/>
          </a:bodyPr>
          <a:lstStyle/>
          <a:p>
            <a:r>
              <a:rPr lang="en-US" sz="1200" dirty="0">
                <a:solidFill>
                  <a:srgbClr val="5D6C7A"/>
                </a:solidFill>
                <a:latin typeface="Aptos"/>
              </a:rPr>
              <a:t>Complementary Sensitivity Assessment</a:t>
            </a:r>
            <a:endParaRPr sz="1200" b="0" dirty="0">
              <a:solidFill>
                <a:srgbClr val="5D6C7A"/>
              </a:solidFill>
              <a:latin typeface="Aptos"/>
            </a:endParaRPr>
          </a:p>
        </p:txBody>
      </p:sp>
      <p:sp>
        <p:nvSpPr>
          <p:cNvPr id="4" name="Rectangle 3">
            <a:extLst>
              <a:ext uri="{FF2B5EF4-FFF2-40B4-BE49-F238E27FC236}">
                <a16:creationId xmlns:a16="http://schemas.microsoft.com/office/drawing/2014/main" id="{FCCA7780-3E7B-FBE2-5B7C-2C6FD4E73495}"/>
              </a:ext>
            </a:extLst>
          </p:cNvPr>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726BFE8-73C5-33F6-37C7-F7DA3885C7A3}"/>
              </a:ext>
            </a:extLst>
          </p:cNvPr>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SENSITIVITY</a:t>
            </a:r>
          </a:p>
        </p:txBody>
      </p:sp>
      <p:sp>
        <p:nvSpPr>
          <p:cNvPr id="16" name="TextBox 15">
            <a:extLst>
              <a:ext uri="{FF2B5EF4-FFF2-40B4-BE49-F238E27FC236}">
                <a16:creationId xmlns:a16="http://schemas.microsoft.com/office/drawing/2014/main" id="{D08DF4A4-576F-6EAB-E9DD-677ABFA17C22}"/>
              </a:ext>
            </a:extLst>
          </p:cNvPr>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17" name="TextBox 16">
            <a:extLst>
              <a:ext uri="{FF2B5EF4-FFF2-40B4-BE49-F238E27FC236}">
                <a16:creationId xmlns:a16="http://schemas.microsoft.com/office/drawing/2014/main" id="{F62E145A-48BB-8BE9-FD8B-3E977B8A52CF}"/>
              </a:ext>
            </a:extLst>
          </p:cNvPr>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08</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6F673DE-FBD6-8CF6-C0D0-74673C3C46BB}"/>
                  </a:ext>
                </a:extLst>
              </p:cNvPr>
              <p:cNvSpPr txBox="1"/>
              <p:nvPr/>
            </p:nvSpPr>
            <p:spPr>
              <a:xfrm>
                <a:off x="815788" y="1541929"/>
                <a:ext cx="9645846" cy="1815882"/>
              </a:xfrm>
              <a:prstGeom prst="rect">
                <a:avLst/>
              </a:prstGeom>
              <a:noFill/>
            </p:spPr>
            <p:txBody>
              <a:bodyPr wrap="none" rtlCol="0">
                <a:spAutoFit/>
              </a:bodyPr>
              <a:lstStyle/>
              <a:p>
                <a:r>
                  <a:rPr lang="en-US" sz="1400" b="1" dirty="0"/>
                  <a:t>MORRIS:</a:t>
                </a:r>
              </a:p>
              <a:p>
                <a:endParaRPr lang="en-US" sz="1400" dirty="0"/>
              </a:p>
              <a:p>
                <a:r>
                  <a:rPr lang="en-US" sz="1400" dirty="0"/>
                  <a:t>Morris changes one parameter at a time and calculates its elementary effects on model outputs. </a:t>
                </a:r>
              </a:p>
              <a:p>
                <a:r>
                  <a:rPr lang="en-US" sz="1400" dirty="0"/>
                  <a:t>These effects are summarized across trajectories.</a:t>
                </a:r>
              </a:p>
              <a:p>
                <a:pPr lvl="0"/>
                <a14:m>
                  <m:oMath xmlns:m="http://schemas.openxmlformats.org/officeDocument/2006/math">
                    <m:sSup>
                      <m:sSupPr>
                        <m:ctrlPr>
                          <a:rPr lang="en-US" sz="1400" i="1" dirty="0">
                            <a:latin typeface="Cambria Math" panose="02040503050406030204" pitchFamily="18" charset="0"/>
                          </a:rPr>
                        </m:ctrlPr>
                      </m:sSupPr>
                      <m:e>
                        <m:r>
                          <a:rPr lang="en-US" sz="1400" i="1" dirty="0">
                            <a:latin typeface="Cambria Math" panose="02040503050406030204" pitchFamily="18" charset="0"/>
                          </a:rPr>
                          <m:t>𝜇</m:t>
                        </m:r>
                      </m:e>
                      <m:sup>
                        <m:r>
                          <a:rPr lang="en-US" sz="1400" i="0" dirty="0">
                            <a:latin typeface="Cambria Math" panose="02040503050406030204" pitchFamily="18" charset="0"/>
                          </a:rPr>
                          <m:t>∗</m:t>
                        </m:r>
                      </m:sup>
                    </m:sSup>
                  </m:oMath>
                </a14:m>
                <a:r>
                  <a:rPr lang="en-US" sz="1400" dirty="0"/>
                  <a:t>: Average magnitude of the parameter's effect.</a:t>
                </a:r>
              </a:p>
              <a:p>
                <a:pPr lvl="0"/>
                <a14:m>
                  <m:oMath xmlns:m="http://schemas.openxmlformats.org/officeDocument/2006/math">
                    <m:r>
                      <a:rPr lang="en-US" sz="1000" i="1" dirty="0" smtClean="0">
                        <a:latin typeface="Cambria Math" panose="02040503050406030204" pitchFamily="18" charset="0"/>
                      </a:rPr>
                      <m:t>𝜎</m:t>
                    </m:r>
                    <m:r>
                      <a:rPr lang="en-US" sz="1000" b="0" i="1" dirty="0" smtClean="0">
                        <a:latin typeface="Cambria Math" panose="02040503050406030204" pitchFamily="18" charset="0"/>
                      </a:rPr>
                      <m:t>2</m:t>
                    </m:r>
                  </m:oMath>
                </a14:m>
                <a:r>
                  <a:rPr lang="en-US" sz="1400" dirty="0"/>
                  <a:t>: Variation in elementary effects, which can indicate nonlinearity or interactions, although it does not distinguish them by itself.</a:t>
                </a:r>
              </a:p>
              <a:p>
                <a:endParaRPr lang="en-US" sz="1400" dirty="0"/>
              </a:p>
              <a:p>
                <a:r>
                  <a:rPr lang="en-US" sz="1400" dirty="0"/>
                  <a:t>Output: Which uncertain parameters appear influential, and which deserve further investigation?</a:t>
                </a:r>
              </a:p>
            </p:txBody>
          </p:sp>
        </mc:Choice>
        <mc:Fallback xmlns="">
          <p:sp>
            <p:nvSpPr>
              <p:cNvPr id="19" name="TextBox 18">
                <a:extLst>
                  <a:ext uri="{FF2B5EF4-FFF2-40B4-BE49-F238E27FC236}">
                    <a16:creationId xmlns:a16="http://schemas.microsoft.com/office/drawing/2014/main" id="{26F673DE-FBD6-8CF6-C0D0-74673C3C46BB}"/>
                  </a:ext>
                </a:extLst>
              </p:cNvPr>
              <p:cNvSpPr txBox="1">
                <a:spLocks noRot="1" noChangeAspect="1" noMove="1" noResize="1" noEditPoints="1" noAdjustHandles="1" noChangeArrowheads="1" noChangeShapeType="1" noTextEdit="1"/>
              </p:cNvSpPr>
              <p:nvPr/>
            </p:nvSpPr>
            <p:spPr>
              <a:xfrm>
                <a:off x="815788" y="1541929"/>
                <a:ext cx="9645846" cy="1815882"/>
              </a:xfrm>
              <a:prstGeom prst="rect">
                <a:avLst/>
              </a:prstGeom>
              <a:blipFill>
                <a:blip r:embed="rId2"/>
                <a:stretch>
                  <a:fillRect l="-263" t="-694" b="-2778"/>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686641A8-2472-589C-906F-2516CBC3F3A8}"/>
              </a:ext>
            </a:extLst>
          </p:cNvPr>
          <p:cNvSpPr txBox="1"/>
          <p:nvPr/>
        </p:nvSpPr>
        <p:spPr>
          <a:xfrm>
            <a:off x="815788" y="3646493"/>
            <a:ext cx="10031464" cy="1661993"/>
          </a:xfrm>
          <a:prstGeom prst="rect">
            <a:avLst/>
          </a:prstGeom>
          <a:noFill/>
        </p:spPr>
        <p:txBody>
          <a:bodyPr wrap="none" rtlCol="0">
            <a:spAutoFit/>
          </a:bodyPr>
          <a:lstStyle/>
          <a:p>
            <a:r>
              <a:rPr lang="en-US" sz="1400" b="1" dirty="0"/>
              <a:t>BFPS Optimal Transport:</a:t>
            </a:r>
          </a:p>
          <a:p>
            <a:endParaRPr lang="en-US" sz="1400" dirty="0"/>
          </a:p>
          <a:p>
            <a:r>
              <a:rPr lang="en-US" sz="1400" dirty="0"/>
              <a:t>An Optimal Transport-based sensitivity approach can compare output distributions associated with different parameter settings, </a:t>
            </a:r>
          </a:p>
          <a:p>
            <a:r>
              <a:rPr lang="en-US" sz="1400" dirty="0"/>
              <a:t>rather than focusing only on average elementary effects. Distributional changes can reveal shifts in spread, tails, or multiple modes </a:t>
            </a:r>
          </a:p>
          <a:p>
            <a:r>
              <a:rPr lang="en-US" sz="1400" dirty="0"/>
              <a:t>that a mean-based summary may not capture.</a:t>
            </a:r>
          </a:p>
          <a:p>
            <a:endParaRPr lang="en-US" sz="1400" dirty="0"/>
          </a:p>
          <a:p>
            <a:r>
              <a:rPr lang="en-US" sz="1400" dirty="0"/>
              <a:t>Output: Which parameters are associated with meaningful changes in the distribution of model outcomes?</a:t>
            </a:r>
          </a:p>
        </p:txBody>
      </p:sp>
    </p:spTree>
    <p:extLst>
      <p:ext uri="{BB962C8B-B14F-4D97-AF65-F5344CB8AC3E}">
        <p14:creationId xmlns:p14="http://schemas.microsoft.com/office/powerpoint/2010/main" val="1147465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972800" cy="455509"/>
          </a:xfrm>
          <a:prstGeom prst="rect">
            <a:avLst/>
          </a:prstGeom>
          <a:noFill/>
        </p:spPr>
        <p:txBody>
          <a:bodyPr wrap="square" lIns="54864" tIns="27432" rIns="54864" bIns="27432">
            <a:spAutoFit/>
          </a:bodyPr>
          <a:lstStyle/>
          <a:p>
            <a:r>
              <a:rPr lang="en-US" sz="2600" b="1" dirty="0">
                <a:solidFill>
                  <a:srgbClr val="162A46"/>
                </a:solidFill>
                <a:latin typeface="Aptos"/>
              </a:rPr>
              <a:t>7</a:t>
            </a:r>
            <a:r>
              <a:rPr sz="2600" b="1" dirty="0">
                <a:solidFill>
                  <a:srgbClr val="162A46"/>
                </a:solidFill>
                <a:latin typeface="Aptos"/>
              </a:rPr>
              <a:t>. Morris: elementary effects</a:t>
            </a:r>
          </a:p>
        </p:txBody>
      </p:sp>
      <p:sp>
        <p:nvSpPr>
          <p:cNvPr id="3" name="TextBox 2"/>
          <p:cNvSpPr txBox="1"/>
          <p:nvPr/>
        </p:nvSpPr>
        <p:spPr>
          <a:xfrm>
            <a:off x="594360" y="731520"/>
            <a:ext cx="10789920" cy="240066"/>
          </a:xfrm>
          <a:prstGeom prst="rect">
            <a:avLst/>
          </a:prstGeom>
          <a:noFill/>
        </p:spPr>
        <p:txBody>
          <a:bodyPr wrap="square" lIns="54864" tIns="27432" rIns="54864" bIns="27432">
            <a:spAutoFit/>
          </a:bodyPr>
          <a:lstStyle/>
          <a:p>
            <a:r>
              <a:rPr sz="1200" b="0" dirty="0">
                <a:solidFill>
                  <a:srgbClr val="5D6C7A"/>
                </a:solidFill>
                <a:latin typeface="Aptos"/>
              </a:rPr>
              <a:t>Core engine</a:t>
            </a:r>
          </a:p>
        </p:txBody>
      </p:sp>
      <p:sp>
        <p:nvSpPr>
          <p:cNvPr id="4" name="Rectangle 3"/>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SENSITIVITY</a:t>
            </a:r>
          </a:p>
        </p:txBody>
      </p:sp>
      <p:sp>
        <p:nvSpPr>
          <p:cNvPr id="6" name="TextBox 5"/>
          <p:cNvSpPr txBox="1"/>
          <p:nvPr/>
        </p:nvSpPr>
        <p:spPr>
          <a:xfrm>
            <a:off x="822960" y="1417320"/>
            <a:ext cx="4389120" cy="365760"/>
          </a:xfrm>
          <a:prstGeom prst="rect">
            <a:avLst/>
          </a:prstGeom>
          <a:noFill/>
        </p:spPr>
        <p:txBody>
          <a:bodyPr wrap="square" lIns="54864" tIns="27432" rIns="54864" bIns="27432">
            <a:spAutoFit/>
          </a:bodyPr>
          <a:lstStyle/>
          <a:p>
            <a:r>
              <a:rPr sz="1600" b="1">
                <a:solidFill>
                  <a:srgbClr val="162A46"/>
                </a:solidFill>
                <a:latin typeface="Aptos"/>
              </a:rPr>
              <a:t>Move through a structured trajectory</a:t>
            </a:r>
          </a:p>
        </p:txBody>
      </p:sp>
      <p:sp>
        <p:nvSpPr>
          <p:cNvPr id="7" name="Oval 6"/>
          <p:cNvSpPr/>
          <p:nvPr/>
        </p:nvSpPr>
        <p:spPr>
          <a:xfrm>
            <a:off x="1097280" y="3566160"/>
            <a:ext cx="228600" cy="228600"/>
          </a:xfrm>
          <a:prstGeom prst="ellipse">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ight Arrow 7"/>
          <p:cNvSpPr/>
          <p:nvPr/>
        </p:nvSpPr>
        <p:spPr>
          <a:xfrm>
            <a:off x="1371600" y="3602736"/>
            <a:ext cx="1051560" cy="128016"/>
          </a:xfrm>
          <a:prstGeom prst="rightArrow">
            <a:avLst/>
          </a:prstGeom>
          <a:solidFill>
            <a:srgbClr val="9B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468880" y="3566160"/>
            <a:ext cx="228600" cy="228600"/>
          </a:xfrm>
          <a:prstGeom prst="ellipse">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Up Arrow 9"/>
          <p:cNvSpPr/>
          <p:nvPr/>
        </p:nvSpPr>
        <p:spPr>
          <a:xfrm>
            <a:off x="2514600" y="2743200"/>
            <a:ext cx="137160" cy="777239"/>
          </a:xfrm>
          <a:prstGeom prst="upArrow">
            <a:avLst/>
          </a:prstGeom>
          <a:solidFill>
            <a:srgbClr val="9B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468880" y="2468880"/>
            <a:ext cx="228600" cy="228600"/>
          </a:xfrm>
          <a:prstGeom prst="ellipse">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2743200" y="2505456"/>
            <a:ext cx="1234440" cy="128016"/>
          </a:xfrm>
          <a:prstGeom prst="rightArrow">
            <a:avLst/>
          </a:prstGeom>
          <a:solidFill>
            <a:srgbClr val="9B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023360" y="2468880"/>
            <a:ext cx="228600" cy="228600"/>
          </a:xfrm>
          <a:prstGeom prst="ellipse">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4160520"/>
            <a:ext cx="4480560" cy="685800"/>
          </a:xfrm>
          <a:prstGeom prst="rect">
            <a:avLst/>
          </a:prstGeom>
          <a:noFill/>
        </p:spPr>
        <p:txBody>
          <a:bodyPr wrap="square" lIns="54864" tIns="27432" rIns="54864" bIns="27432">
            <a:spAutoFit/>
          </a:bodyPr>
          <a:lstStyle/>
          <a:p>
            <a:r>
              <a:rPr sz="1300" b="0">
                <a:solidFill>
                  <a:srgbClr val="26303A"/>
                </a:solidFill>
                <a:latin typeface="Aptos"/>
              </a:rPr>
              <a:t>Each step changes an input dimension (or configured group) and compares the model response.</a:t>
            </a:r>
          </a:p>
        </p:txBody>
      </p:sp>
      <p:sp>
        <p:nvSpPr>
          <p:cNvPr id="15" name="Rounded Rectangle 14"/>
          <p:cNvSpPr/>
          <p:nvPr/>
        </p:nvSpPr>
        <p:spPr>
          <a:xfrm>
            <a:off x="5486400" y="1417320"/>
            <a:ext cx="5532120" cy="114300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0" y="1417320"/>
            <a:ext cx="64008" cy="1143000"/>
          </a:xfrm>
          <a:prstGeom prst="rect">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0" y="1536192"/>
            <a:ext cx="5212080" cy="320040"/>
          </a:xfrm>
          <a:prstGeom prst="rect">
            <a:avLst/>
          </a:prstGeom>
          <a:noFill/>
        </p:spPr>
        <p:txBody>
          <a:bodyPr wrap="square" lIns="54864" tIns="27432" rIns="54864" bIns="27432">
            <a:spAutoFit/>
          </a:bodyPr>
          <a:lstStyle/>
          <a:p>
            <a:r>
              <a:rPr sz="1400" b="1">
                <a:solidFill>
                  <a:srgbClr val="162A46"/>
                </a:solidFill>
                <a:latin typeface="Aptos"/>
              </a:rPr>
              <a:t>Mean effect (μ)</a:t>
            </a:r>
          </a:p>
        </p:txBody>
      </p:sp>
      <p:sp>
        <p:nvSpPr>
          <p:cNvPr id="18" name="TextBox 17"/>
          <p:cNvSpPr txBox="1"/>
          <p:nvPr/>
        </p:nvSpPr>
        <p:spPr>
          <a:xfrm>
            <a:off x="5669280" y="1911095"/>
            <a:ext cx="5212080" cy="557784"/>
          </a:xfrm>
          <a:prstGeom prst="rect">
            <a:avLst/>
          </a:prstGeom>
          <a:noFill/>
        </p:spPr>
        <p:txBody>
          <a:bodyPr wrap="square" lIns="54864" tIns="27432" rIns="54864" bIns="27432">
            <a:spAutoFit/>
          </a:bodyPr>
          <a:lstStyle/>
          <a:p>
            <a:r>
              <a:rPr sz="1150" b="0">
                <a:solidFill>
                  <a:srgbClr val="26303A"/>
                </a:solidFill>
                <a:latin typeface="Aptos"/>
              </a:rPr>
              <a:t>Average signed effect; opposite directions can cancel.</a:t>
            </a:r>
          </a:p>
        </p:txBody>
      </p:sp>
      <p:sp>
        <p:nvSpPr>
          <p:cNvPr id="19" name="Rounded Rectangle 18"/>
          <p:cNvSpPr/>
          <p:nvPr/>
        </p:nvSpPr>
        <p:spPr>
          <a:xfrm>
            <a:off x="5486400" y="2743200"/>
            <a:ext cx="5532120" cy="114300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0" y="2743200"/>
            <a:ext cx="64008" cy="1143000"/>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0" y="2862072"/>
            <a:ext cx="5212080" cy="320040"/>
          </a:xfrm>
          <a:prstGeom prst="rect">
            <a:avLst/>
          </a:prstGeom>
          <a:noFill/>
        </p:spPr>
        <p:txBody>
          <a:bodyPr wrap="square" lIns="54864" tIns="27432" rIns="54864" bIns="27432">
            <a:spAutoFit/>
          </a:bodyPr>
          <a:lstStyle/>
          <a:p>
            <a:r>
              <a:rPr sz="1400" b="1">
                <a:solidFill>
                  <a:srgbClr val="162A46"/>
                </a:solidFill>
                <a:latin typeface="Aptos"/>
              </a:rPr>
              <a:t>Mean absolute effect (μ*)</a:t>
            </a:r>
          </a:p>
        </p:txBody>
      </p:sp>
      <p:sp>
        <p:nvSpPr>
          <p:cNvPr id="22" name="TextBox 21"/>
          <p:cNvSpPr txBox="1"/>
          <p:nvPr/>
        </p:nvSpPr>
        <p:spPr>
          <a:xfrm>
            <a:off x="5669280" y="3236976"/>
            <a:ext cx="5212080" cy="557784"/>
          </a:xfrm>
          <a:prstGeom prst="rect">
            <a:avLst/>
          </a:prstGeom>
          <a:noFill/>
        </p:spPr>
        <p:txBody>
          <a:bodyPr wrap="square" lIns="54864" tIns="27432" rIns="54864" bIns="27432">
            <a:spAutoFit/>
          </a:bodyPr>
          <a:lstStyle/>
          <a:p>
            <a:r>
              <a:rPr sz="1150" b="0">
                <a:solidFill>
                  <a:srgbClr val="26303A"/>
                </a:solidFill>
                <a:latin typeface="Aptos"/>
              </a:rPr>
              <a:t>Average effect magnitude; useful for ranking influence.</a:t>
            </a:r>
          </a:p>
        </p:txBody>
      </p:sp>
      <p:sp>
        <p:nvSpPr>
          <p:cNvPr id="23" name="Rounded Rectangle 22"/>
          <p:cNvSpPr/>
          <p:nvPr/>
        </p:nvSpPr>
        <p:spPr>
          <a:xfrm>
            <a:off x="5486400" y="4069080"/>
            <a:ext cx="5532120" cy="114300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0" y="4069080"/>
            <a:ext cx="64008" cy="1143000"/>
          </a:xfrm>
          <a:prstGeom prst="rect">
            <a:avLst/>
          </a:prstGeom>
          <a:solidFill>
            <a:srgbClr val="E0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0" y="4187952"/>
            <a:ext cx="5212080" cy="320040"/>
          </a:xfrm>
          <a:prstGeom prst="rect">
            <a:avLst/>
          </a:prstGeom>
          <a:noFill/>
        </p:spPr>
        <p:txBody>
          <a:bodyPr wrap="square" lIns="54864" tIns="27432" rIns="54864" bIns="27432">
            <a:spAutoFit/>
          </a:bodyPr>
          <a:lstStyle/>
          <a:p>
            <a:r>
              <a:rPr sz="1400" b="1">
                <a:solidFill>
                  <a:srgbClr val="162A46"/>
                </a:solidFill>
                <a:latin typeface="Aptos"/>
              </a:rPr>
              <a:t>Effect variance (σ²)</a:t>
            </a:r>
          </a:p>
        </p:txBody>
      </p:sp>
      <p:sp>
        <p:nvSpPr>
          <p:cNvPr id="26" name="TextBox 25"/>
          <p:cNvSpPr txBox="1"/>
          <p:nvPr/>
        </p:nvSpPr>
        <p:spPr>
          <a:xfrm>
            <a:off x="5669280" y="4562856"/>
            <a:ext cx="5212080" cy="557784"/>
          </a:xfrm>
          <a:prstGeom prst="rect">
            <a:avLst/>
          </a:prstGeom>
          <a:noFill/>
        </p:spPr>
        <p:txBody>
          <a:bodyPr wrap="square" lIns="54864" tIns="27432" rIns="54864" bIns="27432">
            <a:spAutoFit/>
          </a:bodyPr>
          <a:lstStyle/>
          <a:p>
            <a:r>
              <a:rPr sz="1150" b="0">
                <a:solidFill>
                  <a:srgbClr val="26303A"/>
                </a:solidFill>
                <a:latin typeface="Aptos"/>
              </a:rPr>
              <a:t>Variation in effects across sampled contexts; may reflect nonlinearity or interactions.</a:t>
            </a:r>
          </a:p>
        </p:txBody>
      </p:sp>
      <p:sp>
        <p:nvSpPr>
          <p:cNvPr id="27" name="TextBox 26"/>
          <p:cNvSpPr txBox="1"/>
          <p:nvPr/>
        </p:nvSpPr>
        <p:spPr>
          <a:xfrm>
            <a:off x="914400" y="5715000"/>
            <a:ext cx="10241280" cy="224677"/>
          </a:xfrm>
          <a:prstGeom prst="rect">
            <a:avLst/>
          </a:prstGeom>
          <a:noFill/>
        </p:spPr>
        <p:txBody>
          <a:bodyPr wrap="square" lIns="54864" tIns="27432" rIns="54864" bIns="27432">
            <a:spAutoFit/>
          </a:bodyPr>
          <a:lstStyle/>
          <a:p>
            <a:r>
              <a:rPr sz="1100" b="0" dirty="0">
                <a:solidFill>
                  <a:srgbClr val="5D6C7A"/>
                </a:solidFill>
                <a:latin typeface="Aptos"/>
              </a:rPr>
              <a:t>The result structure stores means, absolute means, variances, and raw elementary effects </a:t>
            </a:r>
            <a:r>
              <a:rPr lang="en-US" sz="1100" b="0" dirty="0">
                <a:solidFill>
                  <a:srgbClr val="5D6C7A"/>
                </a:solidFill>
                <a:latin typeface="Aptos"/>
              </a:rPr>
              <a:t> </a:t>
            </a:r>
            <a:endParaRPr sz="1100" b="0" dirty="0">
              <a:solidFill>
                <a:srgbClr val="5D6C7A"/>
              </a:solidFill>
              <a:latin typeface="Aptos"/>
            </a:endParaRPr>
          </a:p>
        </p:txBody>
      </p:sp>
      <p:sp>
        <p:nvSpPr>
          <p:cNvPr id="28" name="TextBox 27"/>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29" name="TextBox 28"/>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07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5A44A1D-6953-83B1-2152-932AA3365C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A15DEA8-4B61-66C7-D444-25F0D0C28AE9}"/>
              </a:ext>
            </a:extLst>
          </p:cNvPr>
          <p:cNvSpPr txBox="1"/>
          <p:nvPr/>
        </p:nvSpPr>
        <p:spPr>
          <a:xfrm>
            <a:off x="566928" y="256032"/>
            <a:ext cx="10972800" cy="455509"/>
          </a:xfrm>
          <a:prstGeom prst="rect">
            <a:avLst/>
          </a:prstGeom>
          <a:noFill/>
        </p:spPr>
        <p:txBody>
          <a:bodyPr wrap="square" lIns="54864" tIns="27432" rIns="54864" bIns="27432">
            <a:spAutoFit/>
          </a:bodyPr>
          <a:lstStyle/>
          <a:p>
            <a:r>
              <a:rPr lang="en-US" sz="2600" b="1" dirty="0">
                <a:solidFill>
                  <a:srgbClr val="162A46"/>
                </a:solidFill>
                <a:latin typeface="Aptos"/>
              </a:rPr>
              <a:t>7</a:t>
            </a:r>
            <a:r>
              <a:rPr sz="2600" b="1" dirty="0">
                <a:solidFill>
                  <a:srgbClr val="162A46"/>
                </a:solidFill>
                <a:latin typeface="Aptos"/>
              </a:rPr>
              <a:t>. Morris: elementary effects</a:t>
            </a:r>
          </a:p>
        </p:txBody>
      </p:sp>
      <p:sp>
        <p:nvSpPr>
          <p:cNvPr id="3" name="TextBox 2">
            <a:extLst>
              <a:ext uri="{FF2B5EF4-FFF2-40B4-BE49-F238E27FC236}">
                <a16:creationId xmlns:a16="http://schemas.microsoft.com/office/drawing/2014/main" id="{EED87BC3-B91B-B36E-80C1-83C4AA16A085}"/>
              </a:ext>
            </a:extLst>
          </p:cNvPr>
          <p:cNvSpPr txBox="1"/>
          <p:nvPr/>
        </p:nvSpPr>
        <p:spPr>
          <a:xfrm>
            <a:off x="594360" y="731520"/>
            <a:ext cx="10789920" cy="240066"/>
          </a:xfrm>
          <a:prstGeom prst="rect">
            <a:avLst/>
          </a:prstGeom>
          <a:noFill/>
        </p:spPr>
        <p:txBody>
          <a:bodyPr wrap="square" lIns="54864" tIns="27432" rIns="54864" bIns="27432">
            <a:spAutoFit/>
          </a:bodyPr>
          <a:lstStyle/>
          <a:p>
            <a:r>
              <a:rPr sz="1200" b="0" dirty="0">
                <a:solidFill>
                  <a:srgbClr val="5D6C7A"/>
                </a:solidFill>
                <a:latin typeface="Aptos"/>
              </a:rPr>
              <a:t>Core engine</a:t>
            </a:r>
          </a:p>
        </p:txBody>
      </p:sp>
      <p:sp>
        <p:nvSpPr>
          <p:cNvPr id="4" name="Rectangle 3">
            <a:extLst>
              <a:ext uri="{FF2B5EF4-FFF2-40B4-BE49-F238E27FC236}">
                <a16:creationId xmlns:a16="http://schemas.microsoft.com/office/drawing/2014/main" id="{A6813231-C72A-4B5D-FDC7-85185821C684}"/>
              </a:ext>
            </a:extLst>
          </p:cNvPr>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90C2759-E9EB-A014-44C7-0FA82908225A}"/>
              </a:ext>
            </a:extLst>
          </p:cNvPr>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SENSITIVITY</a:t>
            </a:r>
          </a:p>
        </p:txBody>
      </p:sp>
      <p:sp>
        <p:nvSpPr>
          <p:cNvPr id="28" name="TextBox 27">
            <a:extLst>
              <a:ext uri="{FF2B5EF4-FFF2-40B4-BE49-F238E27FC236}">
                <a16:creationId xmlns:a16="http://schemas.microsoft.com/office/drawing/2014/main" id="{B4140804-3D61-A0A7-9408-CB61296E72C2}"/>
              </a:ext>
            </a:extLst>
          </p:cNvPr>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29" name="TextBox 28">
            <a:extLst>
              <a:ext uri="{FF2B5EF4-FFF2-40B4-BE49-F238E27FC236}">
                <a16:creationId xmlns:a16="http://schemas.microsoft.com/office/drawing/2014/main" id="{3944C0E9-9EA6-B780-20C7-F19C63B43235}"/>
              </a:ext>
            </a:extLst>
          </p:cNvPr>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07</a:t>
            </a:r>
          </a:p>
        </p:txBody>
      </p:sp>
      <p:pic>
        <p:nvPicPr>
          <p:cNvPr id="30" name="Picture 29">
            <a:extLst>
              <a:ext uri="{FF2B5EF4-FFF2-40B4-BE49-F238E27FC236}">
                <a16:creationId xmlns:a16="http://schemas.microsoft.com/office/drawing/2014/main" id="{EA44DBBD-EC15-4914-7626-B9F9ADD29330}"/>
              </a:ext>
            </a:extLst>
          </p:cNvPr>
          <p:cNvPicPr>
            <a:picLocks noChangeAspect="1"/>
          </p:cNvPicPr>
          <p:nvPr/>
        </p:nvPicPr>
        <p:blipFill>
          <a:blip r:embed="rId2"/>
          <a:stretch>
            <a:fillRect/>
          </a:stretch>
        </p:blipFill>
        <p:spPr>
          <a:xfrm>
            <a:off x="3581400" y="1449705"/>
            <a:ext cx="5029200" cy="3958590"/>
          </a:xfrm>
          <a:prstGeom prst="rect">
            <a:avLst/>
          </a:prstGeom>
        </p:spPr>
      </p:pic>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CBF0370-0545-2444-656C-AF5106D428A0}"/>
                  </a:ext>
                </a:extLst>
              </p:cNvPr>
              <p:cNvSpPr txBox="1"/>
              <p:nvPr/>
            </p:nvSpPr>
            <p:spPr>
              <a:xfrm>
                <a:off x="3031771" y="5517403"/>
                <a:ext cx="6097978" cy="609077"/>
              </a:xfrm>
              <a:prstGeom prst="rect">
                <a:avLst/>
              </a:prstGeom>
              <a:noFill/>
            </p:spPr>
            <p:txBody>
              <a:bodyPr wrap="square">
                <a:spAutoFit/>
              </a:bodyPr>
              <a:lstStyle/>
              <a:p>
                <a:pPr marL="0" marR="0" algn="ctr">
                  <a:lnSpc>
                    <a:spcPct val="100000"/>
                  </a:lnSpc>
                  <a:spcBef>
                    <a:spcPts val="300"/>
                  </a:spcBef>
                  <a:spcAft>
                    <a:spcPts val="1200"/>
                  </a:spcAft>
                  <a:buNone/>
                </a:pPr>
                <a:r>
                  <a:rPr lang="en-US" sz="1800" i="1" dirty="0">
                    <a:effectLst/>
                    <a:latin typeface="+mn-lt"/>
                    <a:ea typeface="MS Mincho" panose="02020609040205080304" pitchFamily="49" charset="-128"/>
                    <a:cs typeface="Times New Roman" panose="02020603050405020304" pitchFamily="18" charset="0"/>
                  </a:rPr>
                  <a:t>Figure 2. Morris qualitative interpretation framework to identify parameter importance as well as nonlinear parameter interaction on model outputs using mean absolute elementary effect </a:t>
                </a:r>
                <a14:m>
                  <m:oMath xmlns:m="http://schemas.openxmlformats.org/officeDocument/2006/math">
                    <m:d>
                      <m:dPr>
                        <m:ctrlPr>
                          <a:rPr lang="en-US" sz="1800" i="1">
                            <a:effectLst/>
                            <a:latin typeface="Cambria Math" panose="02040503050406030204" pitchFamily="18" charset="0"/>
                            <a:ea typeface="MS Mincho" panose="02020609040205080304" pitchFamily="49" charset="-128"/>
                            <a:cs typeface="Times New Roman" panose="02020603050405020304" pitchFamily="18" charset="0"/>
                          </a:rPr>
                        </m:ctrlPr>
                      </m:dPr>
                      <m:e>
                        <m:sSup>
                          <m:sSupPr>
                            <m:ctrlPr>
                              <a:rPr lang="en-US" sz="1800" i="1">
                                <a:effectLst/>
                                <a:latin typeface="Cambria Math" panose="02040503050406030204" pitchFamily="18" charset="0"/>
                                <a:ea typeface="MS Mincho" panose="02020609040205080304" pitchFamily="49" charset="-128"/>
                                <a:cs typeface="Times New Roman" panose="02020603050405020304" pitchFamily="18" charset="0"/>
                              </a:rPr>
                            </m:ctrlPr>
                          </m:sSupPr>
                          <m:e>
                            <m:r>
                              <a:rPr lang="en-US" sz="1800" i="1">
                                <a:effectLst/>
                                <a:latin typeface="Cambria Math" panose="02040503050406030204" pitchFamily="18" charset="0"/>
                                <a:ea typeface="MS Mincho" panose="02020609040205080304" pitchFamily="49" charset="-128"/>
                                <a:cs typeface="Times New Roman" panose="02020603050405020304" pitchFamily="18" charset="0"/>
                              </a:rPr>
                              <m:t>𝜇</m:t>
                            </m:r>
                          </m:e>
                          <m:sup>
                            <m:r>
                              <a:rPr lang="en-US" sz="1800" i="1">
                                <a:effectLst/>
                                <a:latin typeface="Cambria Math" panose="02040503050406030204" pitchFamily="18" charset="0"/>
                                <a:ea typeface="MS Mincho" panose="02020609040205080304" pitchFamily="49" charset="-128"/>
                                <a:cs typeface="Times New Roman" panose="02020603050405020304" pitchFamily="18" charset="0"/>
                              </a:rPr>
                              <m:t>∗</m:t>
                            </m:r>
                          </m:sup>
                        </m:sSup>
                      </m:e>
                    </m:d>
                  </m:oMath>
                </a14:m>
                <a:r>
                  <a:rPr lang="en-US" sz="1800" i="1" dirty="0">
                    <a:effectLst/>
                    <a:latin typeface="+mn-lt"/>
                    <a:ea typeface="MS Mincho" panose="02020609040205080304" pitchFamily="49" charset="-128"/>
                    <a:cs typeface="Times New Roman" panose="02020603050405020304" pitchFamily="18" charset="0"/>
                  </a:rPr>
                  <a:t> and the variance of elementary effects </a:t>
                </a:r>
                <a14:m>
                  <m:oMath xmlns:m="http://schemas.openxmlformats.org/officeDocument/2006/math">
                    <m:d>
                      <m:dPr>
                        <m:ctrlPr>
                          <a:rPr lang="en-US" sz="1800" i="1">
                            <a:effectLst/>
                            <a:latin typeface="Cambria Math" panose="02040503050406030204" pitchFamily="18" charset="0"/>
                            <a:ea typeface="MS Mincho" panose="02020609040205080304" pitchFamily="49" charset="-128"/>
                            <a:cs typeface="Times New Roman" panose="02020603050405020304" pitchFamily="18" charset="0"/>
                          </a:rPr>
                        </m:ctrlPr>
                      </m:dPr>
                      <m:e>
                        <m:r>
                          <a:rPr lang="en-US" sz="1800" i="1">
                            <a:effectLst/>
                            <a:latin typeface="Cambria Math" panose="02040503050406030204" pitchFamily="18" charset="0"/>
                            <a:ea typeface="MS Mincho" panose="02020609040205080304" pitchFamily="49" charset="-128"/>
                            <a:cs typeface="Times New Roman" panose="02020603050405020304" pitchFamily="18" charset="0"/>
                          </a:rPr>
                          <m:t>𝜎</m:t>
                        </m:r>
                        <m:r>
                          <a:rPr lang="en-US" sz="1800" i="1">
                            <a:effectLst/>
                            <a:latin typeface="Cambria Math" panose="02040503050406030204" pitchFamily="18" charset="0"/>
                            <a:ea typeface="MS Mincho" panose="02020609040205080304" pitchFamily="49" charset="-128"/>
                            <a:cs typeface="Times New Roman" panose="02020603050405020304" pitchFamily="18" charset="0"/>
                          </a:rPr>
                          <m:t>²</m:t>
                        </m:r>
                      </m:e>
                    </m:d>
                  </m:oMath>
                </a14:m>
                <a:endParaRPr lang="en-US" sz="12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mc:Choice>
        <mc:Fallback xmlns="">
          <p:sp>
            <p:nvSpPr>
              <p:cNvPr id="32" name="TextBox 31">
                <a:extLst>
                  <a:ext uri="{FF2B5EF4-FFF2-40B4-BE49-F238E27FC236}">
                    <a16:creationId xmlns:a16="http://schemas.microsoft.com/office/drawing/2014/main" id="{2CBF0370-0545-2444-656C-AF5106D428A0}"/>
                  </a:ext>
                </a:extLst>
              </p:cNvPr>
              <p:cNvSpPr txBox="1">
                <a:spLocks noRot="1" noChangeAspect="1" noMove="1" noResize="1" noEditPoints="1" noAdjustHandles="1" noChangeArrowheads="1" noChangeShapeType="1" noTextEdit="1"/>
              </p:cNvSpPr>
              <p:nvPr/>
            </p:nvSpPr>
            <p:spPr>
              <a:xfrm>
                <a:off x="3031771" y="5517403"/>
                <a:ext cx="6097978" cy="609077"/>
              </a:xfrm>
              <a:prstGeom prst="rect">
                <a:avLst/>
              </a:prstGeom>
              <a:blipFill>
                <a:blip r:embed="rId3"/>
                <a:stretch>
                  <a:fillRect l="-622" t="-4082" r="-1452" b="-110204"/>
                </a:stretch>
              </a:blipFill>
            </p:spPr>
            <p:txBody>
              <a:bodyPr/>
              <a:lstStyle/>
              <a:p>
                <a:r>
                  <a:rPr lang="en-US">
                    <a:noFill/>
                  </a:rPr>
                  <a:t> </a:t>
                </a:r>
              </a:p>
            </p:txBody>
          </p:sp>
        </mc:Fallback>
      </mc:AlternateContent>
    </p:spTree>
    <p:extLst>
      <p:ext uri="{BB962C8B-B14F-4D97-AF65-F5344CB8AC3E}">
        <p14:creationId xmlns:p14="http://schemas.microsoft.com/office/powerpoint/2010/main" val="2539944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972800" cy="455509"/>
          </a:xfrm>
          <a:prstGeom prst="rect">
            <a:avLst/>
          </a:prstGeom>
          <a:noFill/>
        </p:spPr>
        <p:txBody>
          <a:bodyPr wrap="square" lIns="54864" tIns="27432" rIns="54864" bIns="27432">
            <a:spAutoFit/>
          </a:bodyPr>
          <a:lstStyle/>
          <a:p>
            <a:r>
              <a:rPr lang="en-US" sz="2600" b="1" dirty="0">
                <a:solidFill>
                  <a:srgbClr val="162A46"/>
                </a:solidFill>
                <a:latin typeface="Aptos"/>
              </a:rPr>
              <a:t>8</a:t>
            </a:r>
            <a:r>
              <a:rPr sz="2600" b="1" dirty="0">
                <a:solidFill>
                  <a:srgbClr val="162A46"/>
                </a:solidFill>
                <a:latin typeface="Aptos"/>
              </a:rPr>
              <a:t>. BFPS</a:t>
            </a:r>
            <a:r>
              <a:rPr lang="en-US" sz="2600" b="1" dirty="0">
                <a:solidFill>
                  <a:srgbClr val="162A46"/>
                </a:solidFill>
                <a:latin typeface="Aptos"/>
              </a:rPr>
              <a:t> Optimal Transport</a:t>
            </a:r>
            <a:r>
              <a:rPr sz="2600" b="1" dirty="0">
                <a:solidFill>
                  <a:srgbClr val="162A46"/>
                </a:solidFill>
                <a:latin typeface="Aptos"/>
              </a:rPr>
              <a:t>: a complementary sensitivity lens</a:t>
            </a:r>
          </a:p>
        </p:txBody>
      </p:sp>
      <p:sp>
        <p:nvSpPr>
          <p:cNvPr id="3" name="TextBox 2"/>
          <p:cNvSpPr txBox="1"/>
          <p:nvPr/>
        </p:nvSpPr>
        <p:spPr>
          <a:xfrm>
            <a:off x="594360" y="731520"/>
            <a:ext cx="10789920" cy="240066"/>
          </a:xfrm>
          <a:prstGeom prst="rect">
            <a:avLst/>
          </a:prstGeom>
          <a:noFill/>
        </p:spPr>
        <p:txBody>
          <a:bodyPr wrap="square" lIns="54864" tIns="27432" rIns="54864" bIns="27432">
            <a:spAutoFit/>
          </a:bodyPr>
          <a:lstStyle/>
          <a:p>
            <a:r>
              <a:rPr lang="en-US" sz="1200" b="0" dirty="0">
                <a:solidFill>
                  <a:srgbClr val="5D6C7A"/>
                </a:solidFill>
                <a:latin typeface="Aptos"/>
              </a:rPr>
              <a:t>Sensitivity Index Function</a:t>
            </a:r>
            <a:endParaRPr sz="1200" b="0" dirty="0">
              <a:solidFill>
                <a:srgbClr val="5D6C7A"/>
              </a:solidFill>
              <a:latin typeface="Aptos"/>
            </a:endParaRPr>
          </a:p>
        </p:txBody>
      </p:sp>
      <p:sp>
        <p:nvSpPr>
          <p:cNvPr id="4" name="Rectangle 3"/>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SENSITIVITY</a:t>
            </a:r>
          </a:p>
        </p:txBody>
      </p:sp>
      <p:sp>
        <p:nvSpPr>
          <p:cNvPr id="6" name="Rounded Rectangle 5"/>
          <p:cNvSpPr/>
          <p:nvPr/>
        </p:nvSpPr>
        <p:spPr>
          <a:xfrm>
            <a:off x="777240" y="1417320"/>
            <a:ext cx="5074920" cy="233172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417320"/>
            <a:ext cx="64008" cy="2331720"/>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536192"/>
            <a:ext cx="4754880" cy="320040"/>
          </a:xfrm>
          <a:prstGeom prst="rect">
            <a:avLst/>
          </a:prstGeom>
          <a:noFill/>
        </p:spPr>
        <p:txBody>
          <a:bodyPr wrap="square" lIns="54864" tIns="27432" rIns="54864" bIns="27432">
            <a:spAutoFit/>
          </a:bodyPr>
          <a:lstStyle/>
          <a:p>
            <a:r>
              <a:rPr sz="1600" b="1">
                <a:solidFill>
                  <a:srgbClr val="162A46"/>
                </a:solidFill>
                <a:latin typeface="Aptos"/>
              </a:rPr>
              <a:t>What it does</a:t>
            </a:r>
          </a:p>
        </p:txBody>
      </p:sp>
      <p:sp>
        <p:nvSpPr>
          <p:cNvPr id="9" name="TextBox 8"/>
          <p:cNvSpPr txBox="1"/>
          <p:nvPr/>
        </p:nvSpPr>
        <p:spPr>
          <a:xfrm>
            <a:off x="960120" y="1911095"/>
            <a:ext cx="4754880" cy="1746503"/>
          </a:xfrm>
          <a:prstGeom prst="rect">
            <a:avLst/>
          </a:prstGeom>
          <a:noFill/>
        </p:spPr>
        <p:txBody>
          <a:bodyPr wrap="square" lIns="54864" tIns="27432" rIns="54864" bIns="27432">
            <a:spAutoFit/>
          </a:bodyPr>
          <a:lstStyle/>
          <a:p>
            <a:r>
              <a:rPr sz="1300" b="0">
                <a:solidFill>
                  <a:srgbClr val="26303A"/>
                </a:solidFill>
                <a:latin typeface="Aptos"/>
              </a:rPr>
              <a:t>For an input dimension and output vector, the code groups outputs by input values, compares conditional means with the global mean, and normalizes a weighted squared-distance measure by output variance.</a:t>
            </a:r>
          </a:p>
        </p:txBody>
      </p:sp>
      <p:sp>
        <p:nvSpPr>
          <p:cNvPr id="10" name="Rounded Rectangle 9"/>
          <p:cNvSpPr/>
          <p:nvPr/>
        </p:nvSpPr>
        <p:spPr>
          <a:xfrm>
            <a:off x="6263640" y="1417320"/>
            <a:ext cx="5074920" cy="233172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417320"/>
            <a:ext cx="64008" cy="2331720"/>
          </a:xfrm>
          <a:prstGeom prst="rect">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536192"/>
            <a:ext cx="4754880" cy="320040"/>
          </a:xfrm>
          <a:prstGeom prst="rect">
            <a:avLst/>
          </a:prstGeom>
          <a:noFill/>
        </p:spPr>
        <p:txBody>
          <a:bodyPr wrap="square" lIns="54864" tIns="27432" rIns="54864" bIns="27432">
            <a:spAutoFit/>
          </a:bodyPr>
          <a:lstStyle/>
          <a:p>
            <a:r>
              <a:rPr sz="1600" b="1">
                <a:solidFill>
                  <a:srgbClr val="162A46"/>
                </a:solidFill>
                <a:latin typeface="Aptos"/>
              </a:rPr>
              <a:t>How it is used</a:t>
            </a:r>
          </a:p>
        </p:txBody>
      </p:sp>
      <p:sp>
        <p:nvSpPr>
          <p:cNvPr id="13" name="TextBox 12"/>
          <p:cNvSpPr txBox="1"/>
          <p:nvPr/>
        </p:nvSpPr>
        <p:spPr>
          <a:xfrm>
            <a:off x="6446520" y="1911095"/>
            <a:ext cx="4754880" cy="1746503"/>
          </a:xfrm>
          <a:prstGeom prst="rect">
            <a:avLst/>
          </a:prstGeom>
          <a:noFill/>
        </p:spPr>
        <p:txBody>
          <a:bodyPr wrap="square" lIns="54864" tIns="27432" rIns="54864" bIns="27432">
            <a:spAutoFit/>
          </a:bodyPr>
          <a:lstStyle/>
          <a:p>
            <a:r>
              <a:rPr sz="1300" b="0">
                <a:solidFill>
                  <a:srgbClr val="26303A"/>
                </a:solidFill>
                <a:latin typeface="Aptos"/>
              </a:rPr>
              <a:t>The wrapper computes BFPS across inputs and outputs, prints summaries, and can write a CSV. It provides a second sensitivity view alongside Morris effects.</a:t>
            </a:r>
          </a:p>
        </p:txBody>
      </p:sp>
      <p:sp>
        <p:nvSpPr>
          <p:cNvPr id="14" name="TextBox 13"/>
          <p:cNvSpPr txBox="1"/>
          <p:nvPr/>
        </p:nvSpPr>
        <p:spPr>
          <a:xfrm>
            <a:off x="914400" y="4160520"/>
            <a:ext cx="10332720" cy="317010"/>
          </a:xfrm>
          <a:prstGeom prst="rect">
            <a:avLst/>
          </a:prstGeom>
          <a:noFill/>
        </p:spPr>
        <p:txBody>
          <a:bodyPr wrap="square" lIns="54864" tIns="27432" rIns="54864" bIns="27432">
            <a:spAutoFit/>
          </a:bodyPr>
          <a:lstStyle/>
          <a:p>
            <a:r>
              <a:rPr sz="1700" b="1" dirty="0">
                <a:solidFill>
                  <a:srgbClr val="162A46"/>
                </a:solidFill>
                <a:latin typeface="Aptos"/>
              </a:rPr>
              <a:t>Interpretation</a:t>
            </a:r>
          </a:p>
        </p:txBody>
      </p:sp>
      <p:sp>
        <p:nvSpPr>
          <p:cNvPr id="15" name="TextBox 14"/>
          <p:cNvSpPr txBox="1"/>
          <p:nvPr/>
        </p:nvSpPr>
        <p:spPr>
          <a:xfrm>
            <a:off x="914400" y="4572000"/>
            <a:ext cx="10332720" cy="701731"/>
          </a:xfrm>
          <a:prstGeom prst="rect">
            <a:avLst/>
          </a:prstGeom>
          <a:noFill/>
        </p:spPr>
        <p:txBody>
          <a:bodyPr wrap="square" lIns="54864" tIns="27432" rIns="54864" bIns="27432">
            <a:spAutoFit/>
          </a:bodyPr>
          <a:lstStyle/>
          <a:p>
            <a:r>
              <a:rPr lang="en-US" sz="1400" dirty="0"/>
              <a:t>BFPS–Optimal Transport Sensitivity Index</a:t>
            </a:r>
          </a:p>
          <a:p>
            <a:r>
              <a:rPr lang="en-US" sz="1400" dirty="0"/>
              <a:t>The BFPS index uses an Optimal Transport approach to assess the sensitivity of GenX model outputs to uncertain input parameters. It complements the Method of Morris by providing an additional perspective on parameter influence across system-level and zonal outcomes.</a:t>
            </a:r>
          </a:p>
        </p:txBody>
      </p:sp>
      <p:sp>
        <p:nvSpPr>
          <p:cNvPr id="16" name="TextBox 15"/>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17" name="TextBox 16"/>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08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972800" cy="455509"/>
          </a:xfrm>
          <a:prstGeom prst="rect">
            <a:avLst/>
          </a:prstGeom>
          <a:noFill/>
        </p:spPr>
        <p:txBody>
          <a:bodyPr wrap="square" lIns="54864" tIns="27432" rIns="54864" bIns="27432">
            <a:spAutoFit/>
          </a:bodyPr>
          <a:lstStyle/>
          <a:p>
            <a:r>
              <a:rPr lang="en-US" sz="2600" b="1" dirty="0">
                <a:solidFill>
                  <a:srgbClr val="162A46"/>
                </a:solidFill>
                <a:latin typeface="Aptos"/>
              </a:rPr>
              <a:t>9</a:t>
            </a:r>
            <a:r>
              <a:rPr sz="2600" b="1" dirty="0">
                <a:solidFill>
                  <a:srgbClr val="162A46"/>
                </a:solidFill>
                <a:latin typeface="Aptos"/>
              </a:rPr>
              <a:t>. Diagnostics and output artifacts</a:t>
            </a:r>
          </a:p>
        </p:txBody>
      </p:sp>
      <p:sp>
        <p:nvSpPr>
          <p:cNvPr id="3" name="TextBox 2"/>
          <p:cNvSpPr txBox="1"/>
          <p:nvPr/>
        </p:nvSpPr>
        <p:spPr>
          <a:xfrm>
            <a:off x="594360" y="731520"/>
            <a:ext cx="10789920" cy="292608"/>
          </a:xfrm>
          <a:prstGeom prst="rect">
            <a:avLst/>
          </a:prstGeom>
          <a:noFill/>
        </p:spPr>
        <p:txBody>
          <a:bodyPr wrap="square" lIns="54864" tIns="27432" rIns="54864" bIns="27432">
            <a:spAutoFit/>
          </a:bodyPr>
          <a:lstStyle/>
          <a:p>
            <a:r>
              <a:rPr sz="1200" b="0">
                <a:solidFill>
                  <a:srgbClr val="5D6C7A"/>
                </a:solidFill>
                <a:latin typeface="Aptos"/>
              </a:rPr>
              <a:t>Sensitivity summaries plus run-level evidence.</a:t>
            </a:r>
          </a:p>
        </p:txBody>
      </p:sp>
      <p:sp>
        <p:nvSpPr>
          <p:cNvPr id="4" name="Rectangle 3"/>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REPRODUCIBILITY</a:t>
            </a:r>
          </a:p>
        </p:txBody>
      </p:sp>
      <p:sp>
        <p:nvSpPr>
          <p:cNvPr id="6" name="Rounded Rectangle 5"/>
          <p:cNvSpPr/>
          <p:nvPr/>
        </p:nvSpPr>
        <p:spPr>
          <a:xfrm>
            <a:off x="731520" y="1325880"/>
            <a:ext cx="5212080" cy="1024128"/>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325880"/>
            <a:ext cx="64008" cy="1024128"/>
          </a:xfrm>
          <a:prstGeom prst="rect">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444752"/>
            <a:ext cx="4892040" cy="320040"/>
          </a:xfrm>
          <a:prstGeom prst="rect">
            <a:avLst/>
          </a:prstGeom>
          <a:noFill/>
        </p:spPr>
        <p:txBody>
          <a:bodyPr wrap="square" lIns="54864" tIns="27432" rIns="54864" bIns="27432">
            <a:spAutoFit/>
          </a:bodyPr>
          <a:lstStyle/>
          <a:p>
            <a:r>
              <a:rPr sz="1200" b="1">
                <a:solidFill>
                  <a:srgbClr val="162A46"/>
                </a:solidFill>
                <a:latin typeface="Aptos"/>
              </a:rPr>
              <a:t>morris_means_all_outputs.csv</a:t>
            </a:r>
          </a:p>
        </p:txBody>
      </p:sp>
      <p:sp>
        <p:nvSpPr>
          <p:cNvPr id="9" name="TextBox 8"/>
          <p:cNvSpPr txBox="1"/>
          <p:nvPr/>
        </p:nvSpPr>
        <p:spPr>
          <a:xfrm>
            <a:off x="914400" y="1819656"/>
            <a:ext cx="4892040" cy="438912"/>
          </a:xfrm>
          <a:prstGeom prst="rect">
            <a:avLst/>
          </a:prstGeom>
          <a:noFill/>
        </p:spPr>
        <p:txBody>
          <a:bodyPr wrap="square" lIns="54864" tIns="27432" rIns="54864" bIns="27432">
            <a:spAutoFit/>
          </a:bodyPr>
          <a:lstStyle/>
          <a:p>
            <a:r>
              <a:rPr sz="1100" b="0">
                <a:solidFill>
                  <a:srgbClr val="26303A"/>
                </a:solidFill>
                <a:latin typeface="Aptos"/>
              </a:rPr>
              <a:t>Signed mean effects</a:t>
            </a:r>
          </a:p>
        </p:txBody>
      </p:sp>
      <p:sp>
        <p:nvSpPr>
          <p:cNvPr id="10" name="Rounded Rectangle 9"/>
          <p:cNvSpPr/>
          <p:nvPr/>
        </p:nvSpPr>
        <p:spPr>
          <a:xfrm>
            <a:off x="6400800" y="1325880"/>
            <a:ext cx="5212080" cy="1024128"/>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0" y="1325880"/>
            <a:ext cx="64008" cy="1024128"/>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0" y="1444752"/>
            <a:ext cx="4892040" cy="320040"/>
          </a:xfrm>
          <a:prstGeom prst="rect">
            <a:avLst/>
          </a:prstGeom>
          <a:noFill/>
        </p:spPr>
        <p:txBody>
          <a:bodyPr wrap="square" lIns="54864" tIns="27432" rIns="54864" bIns="27432">
            <a:spAutoFit/>
          </a:bodyPr>
          <a:lstStyle/>
          <a:p>
            <a:r>
              <a:rPr sz="1200" b="1">
                <a:solidFill>
                  <a:srgbClr val="162A46"/>
                </a:solidFill>
                <a:latin typeface="Aptos"/>
              </a:rPr>
              <a:t>morris_variances_all_outputs.csv</a:t>
            </a:r>
          </a:p>
        </p:txBody>
      </p:sp>
      <p:sp>
        <p:nvSpPr>
          <p:cNvPr id="13" name="TextBox 12"/>
          <p:cNvSpPr txBox="1"/>
          <p:nvPr/>
        </p:nvSpPr>
        <p:spPr>
          <a:xfrm>
            <a:off x="6583680" y="1819656"/>
            <a:ext cx="4892040" cy="438912"/>
          </a:xfrm>
          <a:prstGeom prst="rect">
            <a:avLst/>
          </a:prstGeom>
          <a:noFill/>
        </p:spPr>
        <p:txBody>
          <a:bodyPr wrap="square" lIns="54864" tIns="27432" rIns="54864" bIns="27432">
            <a:spAutoFit/>
          </a:bodyPr>
          <a:lstStyle/>
          <a:p>
            <a:r>
              <a:rPr sz="1100" b="0">
                <a:solidFill>
                  <a:srgbClr val="26303A"/>
                </a:solidFill>
                <a:latin typeface="Aptos"/>
              </a:rPr>
              <a:t>Effect variability</a:t>
            </a:r>
          </a:p>
        </p:txBody>
      </p:sp>
      <p:sp>
        <p:nvSpPr>
          <p:cNvPr id="14" name="Rounded Rectangle 13"/>
          <p:cNvSpPr/>
          <p:nvPr/>
        </p:nvSpPr>
        <p:spPr>
          <a:xfrm>
            <a:off x="731520" y="2624328"/>
            <a:ext cx="5212080" cy="1024128"/>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1520" y="2624328"/>
            <a:ext cx="64008" cy="1024128"/>
          </a:xfrm>
          <a:prstGeom prst="rect">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743200"/>
            <a:ext cx="4892040" cy="320040"/>
          </a:xfrm>
          <a:prstGeom prst="rect">
            <a:avLst/>
          </a:prstGeom>
          <a:noFill/>
        </p:spPr>
        <p:txBody>
          <a:bodyPr wrap="square" lIns="54864" tIns="27432" rIns="54864" bIns="27432">
            <a:spAutoFit/>
          </a:bodyPr>
          <a:lstStyle/>
          <a:p>
            <a:r>
              <a:rPr sz="1200" b="1">
                <a:solidFill>
                  <a:srgbClr val="162A46"/>
                </a:solidFill>
                <a:latin typeface="Aptos"/>
              </a:rPr>
              <a:t>morris_bfps_all_outputs.csv</a:t>
            </a:r>
          </a:p>
        </p:txBody>
      </p:sp>
      <p:sp>
        <p:nvSpPr>
          <p:cNvPr id="17" name="TextBox 16"/>
          <p:cNvSpPr txBox="1"/>
          <p:nvPr/>
        </p:nvSpPr>
        <p:spPr>
          <a:xfrm>
            <a:off x="914400" y="3118104"/>
            <a:ext cx="4892040" cy="438912"/>
          </a:xfrm>
          <a:prstGeom prst="rect">
            <a:avLst/>
          </a:prstGeom>
          <a:noFill/>
        </p:spPr>
        <p:txBody>
          <a:bodyPr wrap="square" lIns="54864" tIns="27432" rIns="54864" bIns="27432">
            <a:spAutoFit/>
          </a:bodyPr>
          <a:lstStyle/>
          <a:p>
            <a:r>
              <a:rPr sz="1100" b="0">
                <a:solidFill>
                  <a:srgbClr val="26303A"/>
                </a:solidFill>
                <a:latin typeface="Aptos"/>
              </a:rPr>
              <a:t>BFPS indices</a:t>
            </a:r>
          </a:p>
        </p:txBody>
      </p:sp>
      <p:sp>
        <p:nvSpPr>
          <p:cNvPr id="18" name="Rounded Rectangle 17"/>
          <p:cNvSpPr/>
          <p:nvPr/>
        </p:nvSpPr>
        <p:spPr>
          <a:xfrm>
            <a:off x="6400800" y="2624328"/>
            <a:ext cx="5212080" cy="1024128"/>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0" y="2624328"/>
            <a:ext cx="64008" cy="1024128"/>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0" y="2743200"/>
            <a:ext cx="4892040" cy="320040"/>
          </a:xfrm>
          <a:prstGeom prst="rect">
            <a:avLst/>
          </a:prstGeom>
          <a:noFill/>
        </p:spPr>
        <p:txBody>
          <a:bodyPr wrap="square" lIns="54864" tIns="27432" rIns="54864" bIns="27432">
            <a:spAutoFit/>
          </a:bodyPr>
          <a:lstStyle/>
          <a:p>
            <a:r>
              <a:rPr sz="1200" b="1">
                <a:solidFill>
                  <a:srgbClr val="162A46"/>
                </a:solidFill>
                <a:latin typeface="Aptos"/>
              </a:rPr>
              <a:t>morris_outputs_all_design_points.csv</a:t>
            </a:r>
          </a:p>
        </p:txBody>
      </p:sp>
      <p:sp>
        <p:nvSpPr>
          <p:cNvPr id="21" name="TextBox 20"/>
          <p:cNvSpPr txBox="1"/>
          <p:nvPr/>
        </p:nvSpPr>
        <p:spPr>
          <a:xfrm>
            <a:off x="6583680" y="3118104"/>
            <a:ext cx="4892040" cy="438912"/>
          </a:xfrm>
          <a:prstGeom prst="rect">
            <a:avLst/>
          </a:prstGeom>
          <a:noFill/>
        </p:spPr>
        <p:txBody>
          <a:bodyPr wrap="square" lIns="54864" tIns="27432" rIns="54864" bIns="27432">
            <a:spAutoFit/>
          </a:bodyPr>
          <a:lstStyle/>
          <a:p>
            <a:r>
              <a:rPr sz="1100" b="0">
                <a:solidFill>
                  <a:srgbClr val="26303A"/>
                </a:solidFill>
                <a:latin typeface="Aptos"/>
              </a:rPr>
              <a:t>Inputs and outputs per design point</a:t>
            </a:r>
          </a:p>
        </p:txBody>
      </p:sp>
      <p:sp>
        <p:nvSpPr>
          <p:cNvPr id="22" name="Rounded Rectangle 21"/>
          <p:cNvSpPr/>
          <p:nvPr/>
        </p:nvSpPr>
        <p:spPr>
          <a:xfrm>
            <a:off x="731520" y="3922776"/>
            <a:ext cx="5212080" cy="1024128"/>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1520" y="3922776"/>
            <a:ext cx="64008" cy="1024128"/>
          </a:xfrm>
          <a:prstGeom prst="rect">
            <a:avLst/>
          </a:prstGeom>
          <a:solidFill>
            <a:srgbClr val="2E6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4041648"/>
            <a:ext cx="4892040" cy="320040"/>
          </a:xfrm>
          <a:prstGeom prst="rect">
            <a:avLst/>
          </a:prstGeom>
          <a:noFill/>
        </p:spPr>
        <p:txBody>
          <a:bodyPr wrap="square" lIns="54864" tIns="27432" rIns="54864" bIns="27432">
            <a:spAutoFit/>
          </a:bodyPr>
          <a:lstStyle/>
          <a:p>
            <a:r>
              <a:rPr sz="1200" b="1">
                <a:solidFill>
                  <a:srgbClr val="162A46"/>
                </a:solidFill>
                <a:latin typeface="Aptos"/>
              </a:rPr>
              <a:t>morris_effect_diagnostics.csv</a:t>
            </a:r>
          </a:p>
        </p:txBody>
      </p:sp>
      <p:sp>
        <p:nvSpPr>
          <p:cNvPr id="25" name="TextBox 24"/>
          <p:cNvSpPr txBox="1"/>
          <p:nvPr/>
        </p:nvSpPr>
        <p:spPr>
          <a:xfrm>
            <a:off x="914400" y="4416552"/>
            <a:ext cx="4892040" cy="438912"/>
          </a:xfrm>
          <a:prstGeom prst="rect">
            <a:avLst/>
          </a:prstGeom>
          <a:noFill/>
        </p:spPr>
        <p:txBody>
          <a:bodyPr wrap="square" lIns="54864" tIns="27432" rIns="54864" bIns="27432">
            <a:spAutoFit/>
          </a:bodyPr>
          <a:lstStyle/>
          <a:p>
            <a:r>
              <a:rPr sz="1100" b="0">
                <a:solidFill>
                  <a:srgbClr val="26303A"/>
                </a:solidFill>
                <a:latin typeface="Aptos"/>
              </a:rPr>
              <a:t>Effect/run diagnostics</a:t>
            </a:r>
          </a:p>
        </p:txBody>
      </p:sp>
      <p:sp>
        <p:nvSpPr>
          <p:cNvPr id="26" name="Rounded Rectangle 25"/>
          <p:cNvSpPr/>
          <p:nvPr/>
        </p:nvSpPr>
        <p:spPr>
          <a:xfrm>
            <a:off x="6400800" y="3922776"/>
            <a:ext cx="5212080" cy="1024128"/>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00800" y="3922776"/>
            <a:ext cx="64008" cy="1024128"/>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83680" y="4041648"/>
            <a:ext cx="4892040" cy="320040"/>
          </a:xfrm>
          <a:prstGeom prst="rect">
            <a:avLst/>
          </a:prstGeom>
          <a:noFill/>
        </p:spPr>
        <p:txBody>
          <a:bodyPr wrap="square" lIns="54864" tIns="27432" rIns="54864" bIns="27432">
            <a:spAutoFit/>
          </a:bodyPr>
          <a:lstStyle/>
          <a:p>
            <a:r>
              <a:rPr sz="1200" b="1">
                <a:solidFill>
                  <a:srgbClr val="162A46"/>
                </a:solidFill>
                <a:latin typeface="Aptos"/>
              </a:rPr>
              <a:t>morris.csv</a:t>
            </a:r>
          </a:p>
        </p:txBody>
      </p:sp>
      <p:sp>
        <p:nvSpPr>
          <p:cNvPr id="29" name="TextBox 28"/>
          <p:cNvSpPr txBox="1"/>
          <p:nvPr/>
        </p:nvSpPr>
        <p:spPr>
          <a:xfrm>
            <a:off x="6583680" y="4416552"/>
            <a:ext cx="4892040" cy="438912"/>
          </a:xfrm>
          <a:prstGeom prst="rect">
            <a:avLst/>
          </a:prstGeom>
          <a:noFill/>
        </p:spPr>
        <p:txBody>
          <a:bodyPr wrap="square" lIns="54864" tIns="27432" rIns="54864" bIns="27432">
            <a:spAutoFit/>
          </a:bodyPr>
          <a:lstStyle/>
          <a:p>
            <a:r>
              <a:rPr sz="1100" b="0">
                <a:solidFill>
                  <a:srgbClr val="26303A"/>
                </a:solidFill>
                <a:latin typeface="Aptos"/>
              </a:rPr>
              <a:t>Main Morris summary</a:t>
            </a:r>
          </a:p>
        </p:txBody>
      </p:sp>
      <p:sp>
        <p:nvSpPr>
          <p:cNvPr id="30" name="TextBox 29"/>
          <p:cNvSpPr txBox="1"/>
          <p:nvPr/>
        </p:nvSpPr>
        <p:spPr>
          <a:xfrm>
            <a:off x="914400" y="5532120"/>
            <a:ext cx="10241280" cy="365760"/>
          </a:xfrm>
          <a:prstGeom prst="rect">
            <a:avLst/>
          </a:prstGeom>
          <a:noFill/>
        </p:spPr>
        <p:txBody>
          <a:bodyPr wrap="square" lIns="54864" tIns="27432" rIns="54864" bIns="27432">
            <a:spAutoFit/>
          </a:bodyPr>
          <a:lstStyle/>
          <a:p>
            <a:pPr algn="ctr"/>
            <a:r>
              <a:rPr sz="1300" b="0">
                <a:solidFill>
                  <a:srgbClr val="5D6C7A"/>
                </a:solidFill>
                <a:latin typeface="Aptos"/>
              </a:rPr>
              <a:t>Helpers normalize writer returns and detect CSVs created or modified during a run.</a:t>
            </a:r>
          </a:p>
        </p:txBody>
      </p:sp>
      <p:sp>
        <p:nvSpPr>
          <p:cNvPr id="31" name="TextBox 30"/>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32" name="TextBox 31"/>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09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972800" cy="455509"/>
          </a:xfrm>
          <a:prstGeom prst="rect">
            <a:avLst/>
          </a:prstGeom>
          <a:noFill/>
        </p:spPr>
        <p:txBody>
          <a:bodyPr wrap="square" lIns="54864" tIns="27432" rIns="54864" bIns="27432">
            <a:spAutoFit/>
          </a:bodyPr>
          <a:lstStyle/>
          <a:p>
            <a:r>
              <a:rPr lang="en-US" sz="2600" b="1" dirty="0">
                <a:solidFill>
                  <a:srgbClr val="162A46"/>
                </a:solidFill>
                <a:latin typeface="Aptos"/>
              </a:rPr>
              <a:t>10</a:t>
            </a:r>
            <a:r>
              <a:rPr sz="2600" b="1" dirty="0">
                <a:solidFill>
                  <a:srgbClr val="162A46"/>
                </a:solidFill>
                <a:latin typeface="Aptos"/>
              </a:rPr>
              <a:t>. Strengths, caveats, and integration readiness</a:t>
            </a:r>
          </a:p>
        </p:txBody>
      </p:sp>
      <p:sp>
        <p:nvSpPr>
          <p:cNvPr id="3" name="TextBox 2"/>
          <p:cNvSpPr txBox="1"/>
          <p:nvPr/>
        </p:nvSpPr>
        <p:spPr>
          <a:xfrm>
            <a:off x="594360" y="731520"/>
            <a:ext cx="10789920" cy="292608"/>
          </a:xfrm>
          <a:prstGeom prst="rect">
            <a:avLst/>
          </a:prstGeom>
          <a:noFill/>
        </p:spPr>
        <p:txBody>
          <a:bodyPr wrap="square" lIns="54864" tIns="27432" rIns="54864" bIns="27432">
            <a:spAutoFit/>
          </a:bodyPr>
          <a:lstStyle/>
          <a:p>
            <a:r>
              <a:rPr sz="1200" b="0">
                <a:solidFill>
                  <a:srgbClr val="5D6C7A"/>
                </a:solidFill>
                <a:latin typeface="Aptos"/>
              </a:rPr>
              <a:t>A useful screening architecture still depends on model and sampling assumptions.</a:t>
            </a:r>
          </a:p>
        </p:txBody>
      </p:sp>
      <p:sp>
        <p:nvSpPr>
          <p:cNvPr id="4" name="Rectangle 3"/>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REVIEW</a:t>
            </a:r>
          </a:p>
        </p:txBody>
      </p:sp>
      <p:sp>
        <p:nvSpPr>
          <p:cNvPr id="6" name="Rounded Rectangle 5"/>
          <p:cNvSpPr/>
          <p:nvPr/>
        </p:nvSpPr>
        <p:spPr>
          <a:xfrm>
            <a:off x="685800" y="1371600"/>
            <a:ext cx="5257800" cy="196596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371600"/>
            <a:ext cx="64008" cy="1965960"/>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490472"/>
            <a:ext cx="4937760" cy="320040"/>
          </a:xfrm>
          <a:prstGeom prst="rect">
            <a:avLst/>
          </a:prstGeom>
          <a:noFill/>
        </p:spPr>
        <p:txBody>
          <a:bodyPr wrap="square" lIns="54864" tIns="27432" rIns="54864" bIns="27432">
            <a:spAutoFit/>
          </a:bodyPr>
          <a:lstStyle/>
          <a:p>
            <a:r>
              <a:rPr sz="1600" b="1">
                <a:solidFill>
                  <a:srgbClr val="162A46"/>
                </a:solidFill>
                <a:latin typeface="Aptos"/>
              </a:rPr>
              <a:t>What it enables</a:t>
            </a:r>
          </a:p>
        </p:txBody>
      </p:sp>
      <p:sp>
        <p:nvSpPr>
          <p:cNvPr id="9" name="TextBox 8"/>
          <p:cNvSpPr txBox="1"/>
          <p:nvPr/>
        </p:nvSpPr>
        <p:spPr>
          <a:xfrm>
            <a:off x="868680" y="1865376"/>
            <a:ext cx="4937760" cy="1380743"/>
          </a:xfrm>
          <a:prstGeom prst="rect">
            <a:avLst/>
          </a:prstGeom>
          <a:noFill/>
        </p:spPr>
        <p:txBody>
          <a:bodyPr wrap="square" lIns="54864" tIns="27432" rIns="54864" bIns="27432">
            <a:spAutoFit/>
          </a:bodyPr>
          <a:lstStyle/>
          <a:p>
            <a:r>
              <a:rPr sz="1300" b="0">
                <a:solidFill>
                  <a:srgbClr val="26303A"/>
                </a:solidFill>
                <a:latin typeface="Aptos"/>
              </a:rPr>
              <a:t>• Many uncertain inputs evaluated consistently
• System and zonal sensitivity views
• Morris and BFPS summaries
• CSV artifacts for review and reproduction</a:t>
            </a:r>
          </a:p>
        </p:txBody>
      </p:sp>
      <p:sp>
        <p:nvSpPr>
          <p:cNvPr id="10" name="Rounded Rectangle 9"/>
          <p:cNvSpPr/>
          <p:nvPr/>
        </p:nvSpPr>
        <p:spPr>
          <a:xfrm>
            <a:off x="6217920" y="1371600"/>
            <a:ext cx="5257800" cy="1965960"/>
          </a:xfrm>
          <a:prstGeom prst="roundRect">
            <a:avLst/>
          </a:prstGeom>
          <a:solidFill>
            <a:srgbClr val="F1F6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371600"/>
            <a:ext cx="64008" cy="1965960"/>
          </a:xfrm>
          <a:prstGeom prst="rect">
            <a:avLst/>
          </a:prstGeom>
          <a:solidFill>
            <a:srgbClr val="E0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490472"/>
            <a:ext cx="4937760" cy="301621"/>
          </a:xfrm>
          <a:prstGeom prst="rect">
            <a:avLst/>
          </a:prstGeom>
          <a:noFill/>
        </p:spPr>
        <p:txBody>
          <a:bodyPr wrap="square" lIns="54864" tIns="27432" rIns="54864" bIns="27432">
            <a:spAutoFit/>
          </a:bodyPr>
          <a:lstStyle/>
          <a:p>
            <a:r>
              <a:rPr lang="en-US" sz="1600" b="1" dirty="0">
                <a:solidFill>
                  <a:srgbClr val="162A46"/>
                </a:solidFill>
                <a:latin typeface="Aptos"/>
              </a:rPr>
              <a:t>Caveats</a:t>
            </a:r>
            <a:endParaRPr sz="1600" b="1" dirty="0">
              <a:solidFill>
                <a:srgbClr val="162A46"/>
              </a:solidFill>
              <a:latin typeface="Aptos"/>
            </a:endParaRPr>
          </a:p>
        </p:txBody>
      </p:sp>
      <p:sp>
        <p:nvSpPr>
          <p:cNvPr id="13" name="TextBox 12"/>
          <p:cNvSpPr txBox="1"/>
          <p:nvPr/>
        </p:nvSpPr>
        <p:spPr>
          <a:xfrm>
            <a:off x="6400800" y="1865376"/>
            <a:ext cx="4937760" cy="1055674"/>
          </a:xfrm>
          <a:prstGeom prst="rect">
            <a:avLst/>
          </a:prstGeom>
          <a:noFill/>
        </p:spPr>
        <p:txBody>
          <a:bodyPr wrap="square" lIns="54864" tIns="27432" rIns="54864" bIns="27432">
            <a:spAutoFit/>
          </a:bodyPr>
          <a:lstStyle/>
          <a:p>
            <a:r>
              <a:rPr sz="1300" b="0" dirty="0">
                <a:solidFill>
                  <a:srgbClr val="26303A"/>
                </a:solidFill>
                <a:latin typeface="Aptos"/>
              </a:rPr>
              <a:t>• Chosen ranges and configuration</a:t>
            </a:r>
            <a:r>
              <a:rPr lang="en-US" sz="1300" b="0" dirty="0">
                <a:solidFill>
                  <a:srgbClr val="26303A"/>
                </a:solidFill>
                <a:latin typeface="Aptos"/>
              </a:rPr>
              <a:t>. </a:t>
            </a:r>
          </a:p>
          <a:p>
            <a:r>
              <a:rPr lang="en-US" sz="1300" dirty="0">
                <a:solidFill>
                  <a:srgbClr val="26303A"/>
                </a:solidFill>
                <a:latin typeface="Aptos"/>
              </a:rPr>
              <a:t>• GenX version compatibility: Check whether changes in GenX input structures, resource attributes, network parameters, or policy constraints affect parameter mapping and optimization behavior.</a:t>
            </a:r>
          </a:p>
          <a:p>
            <a:endParaRPr sz="1300" b="0" dirty="0">
              <a:solidFill>
                <a:srgbClr val="26303A"/>
              </a:solidFill>
              <a:latin typeface="Aptos"/>
            </a:endParaRPr>
          </a:p>
        </p:txBody>
      </p:sp>
      <p:sp>
        <p:nvSpPr>
          <p:cNvPr id="16" name="TextBox 15"/>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17" name="TextBox 16"/>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62A46"/>
        </a:solidFill>
        <a:effectLst/>
      </p:bgPr>
    </p:bg>
    <p:spTree>
      <p:nvGrpSpPr>
        <p:cNvPr id="1" name=""/>
        <p:cNvGrpSpPr/>
        <p:nvPr/>
      </p:nvGrpSpPr>
      <p:grpSpPr>
        <a:xfrm>
          <a:off x="0" y="0"/>
          <a:ext cx="0" cy="0"/>
          <a:chOff x="0" y="0"/>
          <a:chExt cx="0" cy="0"/>
        </a:xfrm>
      </p:grpSpPr>
      <p:sp>
        <p:nvSpPr>
          <p:cNvPr id="2" name="TextBox 1"/>
          <p:cNvSpPr txBox="1"/>
          <p:nvPr/>
        </p:nvSpPr>
        <p:spPr>
          <a:xfrm>
            <a:off x="731520" y="640080"/>
            <a:ext cx="10515600" cy="320040"/>
          </a:xfrm>
          <a:prstGeom prst="rect">
            <a:avLst/>
          </a:prstGeom>
          <a:noFill/>
        </p:spPr>
        <p:txBody>
          <a:bodyPr wrap="square" lIns="54864" tIns="27432" rIns="54864" bIns="27432">
            <a:spAutoFit/>
          </a:bodyPr>
          <a:lstStyle/>
          <a:p>
            <a:r>
              <a:rPr sz="1200" b="1">
                <a:solidFill>
                  <a:srgbClr val="87D3CC"/>
                </a:solidFill>
                <a:latin typeface="Aptos"/>
              </a:rPr>
              <a:t>TAKEAWAYS</a:t>
            </a:r>
          </a:p>
        </p:txBody>
      </p:sp>
      <p:sp>
        <p:nvSpPr>
          <p:cNvPr id="3" name="TextBox 2"/>
          <p:cNvSpPr txBox="1"/>
          <p:nvPr/>
        </p:nvSpPr>
        <p:spPr>
          <a:xfrm>
            <a:off x="731520" y="1143000"/>
            <a:ext cx="10607040" cy="731520"/>
          </a:xfrm>
          <a:prstGeom prst="rect">
            <a:avLst/>
          </a:prstGeom>
          <a:noFill/>
        </p:spPr>
        <p:txBody>
          <a:bodyPr wrap="square" lIns="54864" tIns="27432" rIns="54864" bIns="27432">
            <a:spAutoFit/>
          </a:bodyPr>
          <a:lstStyle/>
          <a:p>
            <a:r>
              <a:rPr sz="2700" b="1">
                <a:solidFill>
                  <a:srgbClr val="FFFFFF"/>
                </a:solidFill>
                <a:latin typeface="Aptos"/>
              </a:rPr>
              <a:t>The implementation turns uncertainty into sensitivity evidence.</a:t>
            </a:r>
          </a:p>
        </p:txBody>
      </p:sp>
      <p:sp>
        <p:nvSpPr>
          <p:cNvPr id="4" name="TextBox 3"/>
          <p:cNvSpPr txBox="1"/>
          <p:nvPr/>
        </p:nvSpPr>
        <p:spPr>
          <a:xfrm>
            <a:off x="868680" y="2286000"/>
            <a:ext cx="594360" cy="320040"/>
          </a:xfrm>
          <a:prstGeom prst="rect">
            <a:avLst/>
          </a:prstGeom>
          <a:noFill/>
        </p:spPr>
        <p:txBody>
          <a:bodyPr wrap="square" lIns="54864" tIns="27432" rIns="54864" bIns="27432">
            <a:spAutoFit/>
          </a:bodyPr>
          <a:lstStyle/>
          <a:p>
            <a:r>
              <a:rPr sz="1700" b="1">
                <a:solidFill>
                  <a:srgbClr val="87D3CC"/>
                </a:solidFill>
                <a:latin typeface="Aptos"/>
              </a:rPr>
              <a:t>01</a:t>
            </a:r>
          </a:p>
        </p:txBody>
      </p:sp>
      <p:sp>
        <p:nvSpPr>
          <p:cNvPr id="5" name="TextBox 4"/>
          <p:cNvSpPr txBox="1"/>
          <p:nvPr/>
        </p:nvSpPr>
        <p:spPr>
          <a:xfrm>
            <a:off x="1600200" y="2286000"/>
            <a:ext cx="2743200" cy="320040"/>
          </a:xfrm>
          <a:prstGeom prst="rect">
            <a:avLst/>
          </a:prstGeom>
          <a:noFill/>
        </p:spPr>
        <p:txBody>
          <a:bodyPr wrap="square" lIns="54864" tIns="27432" rIns="54864" bIns="27432">
            <a:spAutoFit/>
          </a:bodyPr>
          <a:lstStyle/>
          <a:p>
            <a:r>
              <a:rPr sz="1700" b="1">
                <a:solidFill>
                  <a:srgbClr val="FFFFFF"/>
                </a:solidFill>
                <a:latin typeface="Aptos"/>
              </a:rPr>
              <a:t>Configuration → ranges</a:t>
            </a:r>
          </a:p>
        </p:txBody>
      </p:sp>
      <p:sp>
        <p:nvSpPr>
          <p:cNvPr id="6" name="TextBox 5"/>
          <p:cNvSpPr txBox="1"/>
          <p:nvPr/>
        </p:nvSpPr>
        <p:spPr>
          <a:xfrm>
            <a:off x="4480560" y="2286000"/>
            <a:ext cx="6583680" cy="411480"/>
          </a:xfrm>
          <a:prstGeom prst="rect">
            <a:avLst/>
          </a:prstGeom>
          <a:noFill/>
        </p:spPr>
        <p:txBody>
          <a:bodyPr wrap="square" lIns="54864" tIns="27432" rIns="54864" bIns="27432">
            <a:spAutoFit/>
          </a:bodyPr>
          <a:lstStyle/>
          <a:p>
            <a:r>
              <a:rPr sz="1400" b="0">
                <a:solidFill>
                  <a:srgbClr val="DEE7EF"/>
                </a:solidFill>
                <a:latin typeface="Aptos"/>
              </a:rPr>
              <a:t>Uncertainty definitions become model-ready perturbations.</a:t>
            </a:r>
          </a:p>
        </p:txBody>
      </p:sp>
      <p:sp>
        <p:nvSpPr>
          <p:cNvPr id="7" name="TextBox 6"/>
          <p:cNvSpPr txBox="1"/>
          <p:nvPr/>
        </p:nvSpPr>
        <p:spPr>
          <a:xfrm>
            <a:off x="868680" y="3291840"/>
            <a:ext cx="594360" cy="320040"/>
          </a:xfrm>
          <a:prstGeom prst="rect">
            <a:avLst/>
          </a:prstGeom>
          <a:noFill/>
        </p:spPr>
        <p:txBody>
          <a:bodyPr wrap="square" lIns="54864" tIns="27432" rIns="54864" bIns="27432">
            <a:spAutoFit/>
          </a:bodyPr>
          <a:lstStyle/>
          <a:p>
            <a:r>
              <a:rPr sz="1700" b="1">
                <a:solidFill>
                  <a:srgbClr val="87D3CC"/>
                </a:solidFill>
                <a:latin typeface="Aptos"/>
              </a:rPr>
              <a:t>02</a:t>
            </a:r>
          </a:p>
        </p:txBody>
      </p:sp>
      <p:sp>
        <p:nvSpPr>
          <p:cNvPr id="8" name="TextBox 7"/>
          <p:cNvSpPr txBox="1"/>
          <p:nvPr/>
        </p:nvSpPr>
        <p:spPr>
          <a:xfrm>
            <a:off x="1600200" y="3291840"/>
            <a:ext cx="2743200" cy="320040"/>
          </a:xfrm>
          <a:prstGeom prst="rect">
            <a:avLst/>
          </a:prstGeom>
          <a:noFill/>
        </p:spPr>
        <p:txBody>
          <a:bodyPr wrap="square" lIns="54864" tIns="27432" rIns="54864" bIns="27432">
            <a:spAutoFit/>
          </a:bodyPr>
          <a:lstStyle/>
          <a:p>
            <a:r>
              <a:rPr sz="1700" b="1">
                <a:solidFill>
                  <a:srgbClr val="FFFFFF"/>
                </a:solidFill>
                <a:latin typeface="Aptos"/>
              </a:rPr>
              <a:t>Sample → solve</a:t>
            </a:r>
          </a:p>
        </p:txBody>
      </p:sp>
      <p:sp>
        <p:nvSpPr>
          <p:cNvPr id="9" name="TextBox 8"/>
          <p:cNvSpPr txBox="1"/>
          <p:nvPr/>
        </p:nvSpPr>
        <p:spPr>
          <a:xfrm>
            <a:off x="4480560" y="3291840"/>
            <a:ext cx="6583680" cy="411480"/>
          </a:xfrm>
          <a:prstGeom prst="rect">
            <a:avLst/>
          </a:prstGeom>
          <a:noFill/>
        </p:spPr>
        <p:txBody>
          <a:bodyPr wrap="square" lIns="54864" tIns="27432" rIns="54864" bIns="27432">
            <a:spAutoFit/>
          </a:bodyPr>
          <a:lstStyle/>
          <a:p>
            <a:r>
              <a:rPr sz="1400" b="0">
                <a:solidFill>
                  <a:srgbClr val="DEE7EF"/>
                </a:solidFill>
                <a:latin typeface="Aptos"/>
              </a:rPr>
              <a:t>Each design point is applied to GenX and evaluated.</a:t>
            </a:r>
          </a:p>
        </p:txBody>
      </p:sp>
      <p:sp>
        <p:nvSpPr>
          <p:cNvPr id="10" name="TextBox 9"/>
          <p:cNvSpPr txBox="1"/>
          <p:nvPr/>
        </p:nvSpPr>
        <p:spPr>
          <a:xfrm>
            <a:off x="868680" y="4297680"/>
            <a:ext cx="594360" cy="320040"/>
          </a:xfrm>
          <a:prstGeom prst="rect">
            <a:avLst/>
          </a:prstGeom>
          <a:noFill/>
        </p:spPr>
        <p:txBody>
          <a:bodyPr wrap="square" lIns="54864" tIns="27432" rIns="54864" bIns="27432">
            <a:spAutoFit/>
          </a:bodyPr>
          <a:lstStyle/>
          <a:p>
            <a:r>
              <a:rPr sz="1700" b="1">
                <a:solidFill>
                  <a:srgbClr val="87D3CC"/>
                </a:solidFill>
                <a:latin typeface="Aptos"/>
              </a:rPr>
              <a:t>03</a:t>
            </a:r>
          </a:p>
        </p:txBody>
      </p:sp>
      <p:sp>
        <p:nvSpPr>
          <p:cNvPr id="11" name="TextBox 10"/>
          <p:cNvSpPr txBox="1"/>
          <p:nvPr/>
        </p:nvSpPr>
        <p:spPr>
          <a:xfrm>
            <a:off x="1600200" y="4297680"/>
            <a:ext cx="2743200" cy="320040"/>
          </a:xfrm>
          <a:prstGeom prst="rect">
            <a:avLst/>
          </a:prstGeom>
          <a:noFill/>
        </p:spPr>
        <p:txBody>
          <a:bodyPr wrap="square" lIns="54864" tIns="27432" rIns="54864" bIns="27432">
            <a:spAutoFit/>
          </a:bodyPr>
          <a:lstStyle/>
          <a:p>
            <a:r>
              <a:rPr sz="1700" b="1">
                <a:solidFill>
                  <a:srgbClr val="FFFFFF"/>
                </a:solidFill>
                <a:latin typeface="Aptos"/>
              </a:rPr>
              <a:t>Solve → explain</a:t>
            </a:r>
          </a:p>
        </p:txBody>
      </p:sp>
      <p:sp>
        <p:nvSpPr>
          <p:cNvPr id="12" name="TextBox 11"/>
          <p:cNvSpPr txBox="1"/>
          <p:nvPr/>
        </p:nvSpPr>
        <p:spPr>
          <a:xfrm>
            <a:off x="4480560" y="4297680"/>
            <a:ext cx="6583680" cy="411480"/>
          </a:xfrm>
          <a:prstGeom prst="rect">
            <a:avLst/>
          </a:prstGeom>
          <a:noFill/>
        </p:spPr>
        <p:txBody>
          <a:bodyPr wrap="square" lIns="54864" tIns="27432" rIns="54864" bIns="27432">
            <a:spAutoFit/>
          </a:bodyPr>
          <a:lstStyle/>
          <a:p>
            <a:r>
              <a:rPr sz="1400" b="0">
                <a:solidFill>
                  <a:srgbClr val="DEE7EF"/>
                </a:solidFill>
                <a:latin typeface="Aptos"/>
              </a:rPr>
              <a:t>System and zonal outputs are summarized with Morris and BFPS.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AD1AD-A710-E1A1-C3E1-46AF9FC5B2F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D5BDD0-BFB9-D7D7-5D1A-2136185B99E6}"/>
              </a:ext>
            </a:extLst>
          </p:cNvPr>
          <p:cNvSpPr txBox="1"/>
          <p:nvPr/>
        </p:nvSpPr>
        <p:spPr>
          <a:xfrm>
            <a:off x="566928" y="256032"/>
            <a:ext cx="10972800" cy="486287"/>
          </a:xfrm>
          <a:prstGeom prst="rect">
            <a:avLst/>
          </a:prstGeom>
          <a:noFill/>
        </p:spPr>
        <p:txBody>
          <a:bodyPr wrap="square" lIns="54864" tIns="27432" rIns="54864" bIns="27432">
            <a:spAutoFit/>
          </a:bodyPr>
          <a:lstStyle/>
          <a:p>
            <a:pPr>
              <a:buNone/>
            </a:pPr>
            <a:r>
              <a:rPr lang="en-US" sz="2600" b="1" dirty="0">
                <a:solidFill>
                  <a:srgbClr val="162A46"/>
                </a:solidFill>
                <a:latin typeface="Aptos"/>
              </a:rPr>
              <a:t>12</a:t>
            </a:r>
            <a:r>
              <a:rPr sz="2600" b="1" dirty="0">
                <a:solidFill>
                  <a:srgbClr val="162A46"/>
                </a:solidFill>
                <a:latin typeface="Aptos"/>
              </a:rPr>
              <a:t>. </a:t>
            </a:r>
            <a:r>
              <a:rPr lang="en-US" sz="2800" b="1" dirty="0"/>
              <a:t>Code-flow comparison: Original Morris vs. Current implementation</a:t>
            </a:r>
          </a:p>
        </p:txBody>
      </p:sp>
      <p:sp>
        <p:nvSpPr>
          <p:cNvPr id="3" name="TextBox 2">
            <a:extLst>
              <a:ext uri="{FF2B5EF4-FFF2-40B4-BE49-F238E27FC236}">
                <a16:creationId xmlns:a16="http://schemas.microsoft.com/office/drawing/2014/main" id="{D7174C59-0DC1-D960-DA52-7C419DBDBAAE}"/>
              </a:ext>
            </a:extLst>
          </p:cNvPr>
          <p:cNvSpPr txBox="1"/>
          <p:nvPr/>
        </p:nvSpPr>
        <p:spPr>
          <a:xfrm>
            <a:off x="594360" y="731520"/>
            <a:ext cx="10789920" cy="240066"/>
          </a:xfrm>
          <a:prstGeom prst="rect">
            <a:avLst/>
          </a:prstGeom>
          <a:noFill/>
        </p:spPr>
        <p:txBody>
          <a:bodyPr wrap="square" lIns="54864" tIns="27432" rIns="54864" bIns="27432">
            <a:spAutoFit/>
          </a:bodyPr>
          <a:lstStyle/>
          <a:p>
            <a:r>
              <a:rPr lang="en-US" sz="1200" dirty="0"/>
              <a:t>Chronological code-flow comparison to GenX Morris base- Inherited, Extensions, Added</a:t>
            </a:r>
            <a:endParaRPr sz="1200" b="0" dirty="0">
              <a:solidFill>
                <a:srgbClr val="5D6C7A"/>
              </a:solidFill>
              <a:latin typeface="Aptos"/>
            </a:endParaRPr>
          </a:p>
        </p:txBody>
      </p:sp>
      <p:sp>
        <p:nvSpPr>
          <p:cNvPr id="4" name="Rectangle 3">
            <a:extLst>
              <a:ext uri="{FF2B5EF4-FFF2-40B4-BE49-F238E27FC236}">
                <a16:creationId xmlns:a16="http://schemas.microsoft.com/office/drawing/2014/main" id="{47AF4FAA-E89E-DBAB-26F6-C4CE1CF29432}"/>
              </a:ext>
            </a:extLst>
          </p:cNvPr>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C157C54-B87A-6D5F-6288-9B178547E016}"/>
              </a:ext>
            </a:extLst>
          </p:cNvPr>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REVIEW</a:t>
            </a:r>
          </a:p>
        </p:txBody>
      </p:sp>
      <p:sp>
        <p:nvSpPr>
          <p:cNvPr id="16" name="TextBox 15">
            <a:extLst>
              <a:ext uri="{FF2B5EF4-FFF2-40B4-BE49-F238E27FC236}">
                <a16:creationId xmlns:a16="http://schemas.microsoft.com/office/drawing/2014/main" id="{8D6D43BC-2EE0-EA8C-A0D2-616807CD6422}"/>
              </a:ext>
            </a:extLst>
          </p:cNvPr>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17" name="TextBox 16">
            <a:extLst>
              <a:ext uri="{FF2B5EF4-FFF2-40B4-BE49-F238E27FC236}">
                <a16:creationId xmlns:a16="http://schemas.microsoft.com/office/drawing/2014/main" id="{ADC18393-EEC2-AE48-5810-63C0A7BA5A00}"/>
              </a:ext>
            </a:extLst>
          </p:cNvPr>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10</a:t>
            </a:r>
          </a:p>
        </p:txBody>
      </p:sp>
      <p:graphicFrame>
        <p:nvGraphicFramePr>
          <p:cNvPr id="14" name="Table 13">
            <a:extLst>
              <a:ext uri="{FF2B5EF4-FFF2-40B4-BE49-F238E27FC236}">
                <a16:creationId xmlns:a16="http://schemas.microsoft.com/office/drawing/2014/main" id="{9540040B-1837-19F6-5316-76E324F77BBF}"/>
              </a:ext>
            </a:extLst>
          </p:cNvPr>
          <p:cNvGraphicFramePr>
            <a:graphicFrameLocks noGrp="1"/>
          </p:cNvGraphicFramePr>
          <p:nvPr>
            <p:extLst>
              <p:ext uri="{D42A27DB-BD31-4B8C-83A1-F6EECF244321}">
                <p14:modId xmlns:p14="http://schemas.microsoft.com/office/powerpoint/2010/main" val="1676429198"/>
              </p:ext>
            </p:extLst>
          </p:nvPr>
        </p:nvGraphicFramePr>
        <p:xfrm>
          <a:off x="594360" y="1254978"/>
          <a:ext cx="10972800" cy="5386049"/>
        </p:xfrm>
        <a:graphic>
          <a:graphicData uri="http://schemas.openxmlformats.org/drawingml/2006/table">
            <a:tbl>
              <a:tblPr>
                <a:tableStyleId>{5C22544A-7EE6-4342-B048-85BDC9FD1C3A}</a:tableStyleId>
              </a:tblPr>
              <a:tblGrid>
                <a:gridCol w="941412">
                  <a:extLst>
                    <a:ext uri="{9D8B030D-6E8A-4147-A177-3AD203B41FA5}">
                      <a16:colId xmlns:a16="http://schemas.microsoft.com/office/drawing/2014/main" val="2466990290"/>
                    </a:ext>
                  </a:extLst>
                </a:gridCol>
                <a:gridCol w="3447708">
                  <a:extLst>
                    <a:ext uri="{9D8B030D-6E8A-4147-A177-3AD203B41FA5}">
                      <a16:colId xmlns:a16="http://schemas.microsoft.com/office/drawing/2014/main" val="4282851826"/>
                    </a:ext>
                  </a:extLst>
                </a:gridCol>
                <a:gridCol w="2194560">
                  <a:extLst>
                    <a:ext uri="{9D8B030D-6E8A-4147-A177-3AD203B41FA5}">
                      <a16:colId xmlns:a16="http://schemas.microsoft.com/office/drawing/2014/main" val="498403399"/>
                    </a:ext>
                  </a:extLst>
                </a:gridCol>
                <a:gridCol w="2194560">
                  <a:extLst>
                    <a:ext uri="{9D8B030D-6E8A-4147-A177-3AD203B41FA5}">
                      <a16:colId xmlns:a16="http://schemas.microsoft.com/office/drawing/2014/main" val="2821282872"/>
                    </a:ext>
                  </a:extLst>
                </a:gridCol>
                <a:gridCol w="2194560">
                  <a:extLst>
                    <a:ext uri="{9D8B030D-6E8A-4147-A177-3AD203B41FA5}">
                      <a16:colId xmlns:a16="http://schemas.microsoft.com/office/drawing/2014/main" val="2423162357"/>
                    </a:ext>
                  </a:extLst>
                </a:gridCol>
              </a:tblGrid>
              <a:tr h="120478">
                <a:tc>
                  <a:txBody>
                    <a:bodyPr/>
                    <a:lstStyle/>
                    <a:p>
                      <a:pPr>
                        <a:buNone/>
                      </a:pPr>
                      <a:r>
                        <a:rPr lang="en-US" sz="1000" b="1">
                          <a:latin typeface="Times New Roman" panose="02020603050405020304" pitchFamily="18" charset="0"/>
                          <a:cs typeface="Times New Roman" panose="02020603050405020304" pitchFamily="18" charset="0"/>
                        </a:rPr>
                        <a:t>Step</a:t>
                      </a:r>
                    </a:p>
                  </a:txBody>
                  <a:tcPr marL="14506" marR="14506" marT="7253" marB="7253" anchor="ctr"/>
                </a:tc>
                <a:tc>
                  <a:txBody>
                    <a:bodyPr/>
                    <a:lstStyle/>
                    <a:p>
                      <a:pPr>
                        <a:buNone/>
                      </a:pPr>
                      <a:r>
                        <a:rPr lang="en-US" sz="1000" b="1">
                          <a:latin typeface="Times New Roman" panose="02020603050405020304" pitchFamily="18" charset="0"/>
                          <a:cs typeface="Times New Roman" panose="02020603050405020304" pitchFamily="18" charset="0"/>
                        </a:rPr>
                        <a:t>Code function / stage</a:t>
                      </a:r>
                    </a:p>
                  </a:txBody>
                  <a:tcPr marL="14506" marR="14506" marT="7253" marB="7253" anchor="ctr"/>
                </a:tc>
                <a:tc>
                  <a:txBody>
                    <a:bodyPr/>
                    <a:lstStyle/>
                    <a:p>
                      <a:pPr>
                        <a:buNone/>
                      </a:pPr>
                      <a:r>
                        <a:rPr lang="en-US" sz="1000" b="1">
                          <a:latin typeface="Times New Roman" panose="02020603050405020304" pitchFamily="18" charset="0"/>
                          <a:cs typeface="Times New Roman" panose="02020603050405020304" pitchFamily="18" charset="0"/>
                        </a:rPr>
                        <a:t>Original GenX behavior</a:t>
                      </a:r>
                    </a:p>
                  </a:txBody>
                  <a:tcPr marL="14506" marR="14506" marT="7253" marB="7253" anchor="ctr"/>
                </a:tc>
                <a:tc>
                  <a:txBody>
                    <a:bodyPr/>
                    <a:lstStyle/>
                    <a:p>
                      <a:pPr>
                        <a:buNone/>
                      </a:pPr>
                      <a:r>
                        <a:rPr lang="en-US" sz="1000" b="1">
                          <a:latin typeface="Times New Roman" panose="02020603050405020304" pitchFamily="18" charset="0"/>
                          <a:cs typeface="Times New Roman" panose="02020603050405020304" pitchFamily="18" charset="0"/>
                        </a:rPr>
                        <a:t>Current implementation</a:t>
                      </a:r>
                    </a:p>
                  </a:txBody>
                  <a:tcPr marL="14506" marR="14506" marT="7253" marB="7253" anchor="ctr"/>
                </a:tc>
                <a:tc>
                  <a:txBody>
                    <a:bodyPr/>
                    <a:lstStyle/>
                    <a:p>
                      <a:pPr>
                        <a:buNone/>
                      </a:pPr>
                      <a:r>
                        <a:rPr lang="en-US" sz="1000" b="1" dirty="0">
                          <a:latin typeface="Times New Roman" panose="02020603050405020304" pitchFamily="18" charset="0"/>
                          <a:cs typeface="Times New Roman" panose="02020603050405020304" pitchFamily="18" charset="0"/>
                        </a:rPr>
                        <a:t>Classification</a:t>
                      </a:r>
                    </a:p>
                  </a:txBody>
                  <a:tcPr marL="14506" marR="14506" marT="7253" marB="7253" anchor="ctr"/>
                </a:tc>
                <a:extLst>
                  <a:ext uri="{0D108BD9-81ED-4DB2-BD59-A6C34878D82A}">
                    <a16:rowId xmlns:a16="http://schemas.microsoft.com/office/drawing/2014/main" val="3801849291"/>
                  </a:ext>
                </a:extLst>
              </a:tr>
              <a:tr h="446512">
                <a:tc>
                  <a:txBody>
                    <a:bodyPr/>
                    <a:lstStyle/>
                    <a:p>
                      <a:pPr>
                        <a:buNone/>
                      </a:pPr>
                      <a:r>
                        <a:rPr lang="en-US" sz="1000">
                          <a:latin typeface="Times New Roman" panose="02020603050405020304" pitchFamily="18" charset="0"/>
                          <a:cs typeface="Times New Roman" panose="02020603050405020304" pitchFamily="18" charset="0"/>
                        </a:rPr>
                        <a:t>1</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morris() — configuration and parameter ranges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Reads Method_of_morris_range.csv, identifies uncertain parameters, defines ranges and groups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Retains parameter-range setup and adds more output configuration and labeling</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Inherited + extended</a:t>
                      </a:r>
                    </a:p>
                  </a:txBody>
                  <a:tcPr marL="14506" marR="14506" marT="7253" marB="7253" anchor="ctr"/>
                </a:tc>
                <a:extLst>
                  <a:ext uri="{0D108BD9-81ED-4DB2-BD59-A6C34878D82A}">
                    <a16:rowId xmlns:a16="http://schemas.microsoft.com/office/drawing/2014/main" val="1109066993"/>
                  </a:ext>
                </a:extLst>
              </a:tr>
              <a:tr h="340491">
                <a:tc>
                  <a:txBody>
                    <a:bodyPr/>
                    <a:lstStyle/>
                    <a:p>
                      <a:pPr>
                        <a:buNone/>
                      </a:pPr>
                      <a:r>
                        <a:rPr lang="en-US" sz="1000">
                          <a:latin typeface="Times New Roman" panose="02020603050405020304" pitchFamily="18" charset="0"/>
                          <a:cs typeface="Times New Roman" panose="02020603050405020304" pitchFamily="18" charset="0"/>
                        </a:rPr>
                        <a:t>2</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generate_design_matrix() / erate_design_matrix() — design generation</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Creates candidate parameter combinations using discrete levels and grouped changes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Retains the design-generation approach; function is renamed</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Inherited + changed name</a:t>
                      </a:r>
                    </a:p>
                  </a:txBody>
                  <a:tcPr marL="14506" marR="14506" marT="7253" marB="7253" anchor="ctr"/>
                </a:tc>
                <a:extLst>
                  <a:ext uri="{0D108BD9-81ED-4DB2-BD59-A6C34878D82A}">
                    <a16:rowId xmlns:a16="http://schemas.microsoft.com/office/drawing/2014/main" val="2668755225"/>
                  </a:ext>
                </a:extLst>
              </a:tr>
              <a:tr h="230485">
                <a:tc>
                  <a:txBody>
                    <a:bodyPr/>
                    <a:lstStyle/>
                    <a:p>
                      <a:pPr>
                        <a:buNone/>
                      </a:pPr>
                      <a:r>
                        <a:rPr lang="en-US" sz="1000">
                          <a:latin typeface="Times New Roman" panose="02020603050405020304" pitchFamily="18" charset="0"/>
                          <a:cs typeface="Times New Roman" panose="02020603050405020304" pitchFamily="18" charset="0"/>
                        </a:rPr>
                        <a:t>3</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calculate_spread() — trajectory scoring</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Sums Euclidean distances between successive design points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Uses the same formula</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Inherited — unchanged formula</a:t>
                      </a:r>
                    </a:p>
                  </a:txBody>
                  <a:tcPr marL="14506" marR="14506" marT="7253" marB="7253" anchor="ctr"/>
                </a:tc>
                <a:extLst>
                  <a:ext uri="{0D108BD9-81ED-4DB2-BD59-A6C34878D82A}">
                    <a16:rowId xmlns:a16="http://schemas.microsoft.com/office/drawing/2014/main" val="2123742644"/>
                  </a:ext>
                </a:extLst>
              </a:tr>
              <a:tr h="340491">
                <a:tc>
                  <a:txBody>
                    <a:bodyPr/>
                    <a:lstStyle/>
                    <a:p>
                      <a:pPr>
                        <a:buNone/>
                      </a:pPr>
                      <a:r>
                        <a:rPr lang="en-US" sz="1000">
                          <a:latin typeface="Times New Roman" panose="02020603050405020304" pitchFamily="18" charset="0"/>
                          <a:cs typeface="Times New Roman" panose="02020603050405020304" pitchFamily="18" charset="0"/>
                        </a:rPr>
                        <a:t>4</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sample_matrices() — trajectory selection</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Generates candidate trajectories, ranks by spread, retains the highest-scoring candidates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Retains the same ranking and selection mechanism</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Inherited — same approach</a:t>
                      </a:r>
                    </a:p>
                  </a:txBody>
                  <a:tcPr marL="14506" marR="14506" marT="7253" marB="7253" anchor="ctr"/>
                </a:tc>
                <a:extLst>
                  <a:ext uri="{0D108BD9-81ED-4DB2-BD59-A6C34878D82A}">
                    <a16:rowId xmlns:a16="http://schemas.microsoft.com/office/drawing/2014/main" val="3158131503"/>
                  </a:ext>
                </a:extLst>
              </a:tr>
              <a:tr h="340491">
                <a:tc>
                  <a:txBody>
                    <a:bodyPr/>
                    <a:lstStyle/>
                    <a:p>
                      <a:pPr>
                        <a:buNone/>
                      </a:pPr>
                      <a:r>
                        <a:rPr lang="en-US" sz="1000">
                          <a:latin typeface="Times New Roman" panose="02020603050405020304" pitchFamily="18" charset="0"/>
                          <a:cs typeface="Times New Roman" panose="02020603050405020304" pitchFamily="18" charset="0"/>
                        </a:rPr>
                        <a:t>5</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my_gsa() — design validation</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Builds the selected design matrices and processes trajectories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Adds validation for empty ranges, steps, groups, and dimensional consistency</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Extended with new checks</a:t>
                      </a:r>
                    </a:p>
                  </a:txBody>
                  <a:tcPr marL="14506" marR="14506" marT="7253" marB="7253" anchor="ctr"/>
                </a:tc>
                <a:extLst>
                  <a:ext uri="{0D108BD9-81ED-4DB2-BD59-A6C34878D82A}">
                    <a16:rowId xmlns:a16="http://schemas.microsoft.com/office/drawing/2014/main" val="1481816663"/>
                  </a:ext>
                </a:extLst>
              </a:tr>
              <a:tr h="340491">
                <a:tc>
                  <a:txBody>
                    <a:bodyPr/>
                    <a:lstStyle/>
                    <a:p>
                      <a:pPr>
                        <a:buNone/>
                      </a:pPr>
                      <a:r>
                        <a:rPr lang="en-US" sz="1000">
                          <a:latin typeface="Times New Roman" panose="02020603050405020304" pitchFamily="18" charset="0"/>
                          <a:cs typeface="Times New Roman" panose="02020603050405020304" pitchFamily="18" charset="0"/>
                        </a:rPr>
                        <a:t>6</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my_gsa() — model evaluation</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Evaluates the model at each design point; original wrapper returns objective value</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Evaluates each design point and supports multiple outputs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Major extension</a:t>
                      </a:r>
                    </a:p>
                  </a:txBody>
                  <a:tcPr marL="14506" marR="14506" marT="7253" marB="7253" anchor="ctr"/>
                </a:tc>
                <a:extLst>
                  <a:ext uri="{0D108BD9-81ED-4DB2-BD59-A6C34878D82A}">
                    <a16:rowId xmlns:a16="http://schemas.microsoft.com/office/drawing/2014/main" val="2104964185"/>
                  </a:ext>
                </a:extLst>
              </a:tr>
              <a:tr h="337479">
                <a:tc>
                  <a:txBody>
                    <a:bodyPr/>
                    <a:lstStyle/>
                    <a:p>
                      <a:pPr>
                        <a:buNone/>
                      </a:pPr>
                      <a:r>
                        <a:rPr lang="en-US" sz="1000">
                          <a:latin typeface="Times New Roman" panose="02020603050405020304" pitchFamily="18" charset="0"/>
                          <a:cs typeface="Times New Roman" panose="02020603050405020304" pitchFamily="18" charset="0"/>
                        </a:rPr>
                        <a:t>7</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InputOutputPair — run-level records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No dedicated input-output tracking structure</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Stores trajectory number, run index, sampled inputs, and outputs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Added</a:t>
                      </a:r>
                    </a:p>
                  </a:txBody>
                  <a:tcPr marL="14506" marR="14506" marT="7253" marB="7253" anchor="ctr"/>
                </a:tc>
                <a:extLst>
                  <a:ext uri="{0D108BD9-81ED-4DB2-BD59-A6C34878D82A}">
                    <a16:rowId xmlns:a16="http://schemas.microsoft.com/office/drawing/2014/main" val="1849188165"/>
                  </a:ext>
                </a:extLst>
              </a:tr>
              <a:tr h="230485">
                <a:tc>
                  <a:txBody>
                    <a:bodyPr/>
                    <a:lstStyle/>
                    <a:p>
                      <a:pPr>
                        <a:buNone/>
                      </a:pPr>
                      <a:r>
                        <a:rPr lang="en-US" sz="1000">
                          <a:latin typeface="Times New Roman" panose="02020603050405020304" pitchFamily="18" charset="0"/>
                          <a:cs typeface="Times New Roman" panose="02020603050405020304" pitchFamily="18" charset="0"/>
                        </a:rPr>
                        <a:t>8</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System and zonal output extraction</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Does not extract the same system-level and zonal diagnostic metrics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Builds expanded system and zonal output tables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Added</a:t>
                      </a:r>
                    </a:p>
                  </a:txBody>
                  <a:tcPr marL="14506" marR="14506" marT="7253" marB="7253" anchor="ctr"/>
                </a:tc>
                <a:extLst>
                  <a:ext uri="{0D108BD9-81ED-4DB2-BD59-A6C34878D82A}">
                    <a16:rowId xmlns:a16="http://schemas.microsoft.com/office/drawing/2014/main" val="2260168224"/>
                  </a:ext>
                </a:extLst>
              </a:tr>
              <a:tr h="340491">
                <a:tc>
                  <a:txBody>
                    <a:bodyPr/>
                    <a:lstStyle/>
                    <a:p>
                      <a:pPr>
                        <a:buNone/>
                      </a:pPr>
                      <a:r>
                        <a:rPr lang="en-US" sz="1000">
                          <a:latin typeface="Times New Roman" panose="02020603050405020304" pitchFamily="18" charset="0"/>
                          <a:cs typeface="Times New Roman" panose="02020603050405020304" pitchFamily="18" charset="0"/>
                        </a:rPr>
                        <a:t>9</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Morris elementary effects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Calculates effects from consecutive design points and their model outputs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Retains the method but revises trajectory-segment indexing and multi-output handling</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Inherited method + modified implementation</a:t>
                      </a:r>
                    </a:p>
                  </a:txBody>
                  <a:tcPr marL="14506" marR="14506" marT="7253" marB="7253" anchor="ctr"/>
                </a:tc>
                <a:extLst>
                  <a:ext uri="{0D108BD9-81ED-4DB2-BD59-A6C34878D82A}">
                    <a16:rowId xmlns:a16="http://schemas.microsoft.com/office/drawing/2014/main" val="1149051970"/>
                  </a:ext>
                </a:extLst>
              </a:tr>
              <a:tr h="337479">
                <a:tc>
                  <a:txBody>
                    <a:bodyPr/>
                    <a:lstStyle/>
                    <a:p>
                      <a:pPr>
                        <a:buNone/>
                      </a:pPr>
                      <a:r>
                        <a:rPr lang="en-US" sz="1000">
                          <a:latin typeface="Times New Roman" panose="02020603050405020304" pitchFamily="18" charset="0"/>
                          <a:cs typeface="Times New Roman" panose="02020603050405020304" pitchFamily="18" charset="0"/>
                        </a:rPr>
                        <a:t>10</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Morris summaries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Calculates mean effect, mean absolute effect, and variance</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Calculates summaries across multiple outputs and attaches readable labels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Extended</a:t>
                      </a:r>
                    </a:p>
                  </a:txBody>
                  <a:tcPr marL="14506" marR="14506" marT="7253" marB="7253" anchor="ctr"/>
                </a:tc>
                <a:extLst>
                  <a:ext uri="{0D108BD9-81ED-4DB2-BD59-A6C34878D82A}">
                    <a16:rowId xmlns:a16="http://schemas.microsoft.com/office/drawing/2014/main" val="191806180"/>
                  </a:ext>
                </a:extLst>
              </a:tr>
              <a:tr h="230485">
                <a:tc>
                  <a:txBody>
                    <a:bodyPr/>
                    <a:lstStyle/>
                    <a:p>
                      <a:pPr>
                        <a:buNone/>
                      </a:pPr>
                      <a:r>
                        <a:rPr lang="en-US" sz="1000">
                          <a:latin typeface="Times New Roman" panose="02020603050405020304" pitchFamily="18" charset="0"/>
                          <a:cs typeface="Times New Roman" panose="02020603050405020304" pitchFamily="18" charset="0"/>
                        </a:rPr>
                        <a:t>11</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bfps_sensitivity()</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No BFPS calculation</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Calculates conditional-mean-based sensitivity indices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Added analytical capability</a:t>
                      </a:r>
                    </a:p>
                  </a:txBody>
                  <a:tcPr marL="14506" marR="14506" marT="7253" marB="7253" anchor="ctr"/>
                </a:tc>
                <a:extLst>
                  <a:ext uri="{0D108BD9-81ED-4DB2-BD59-A6C34878D82A}">
                    <a16:rowId xmlns:a16="http://schemas.microsoft.com/office/drawing/2014/main" val="3095206933"/>
                  </a:ext>
                </a:extLst>
              </a:tr>
              <a:tr h="337479">
                <a:tc>
                  <a:txBody>
                    <a:bodyPr/>
                    <a:lstStyle/>
                    <a:p>
                      <a:pPr>
                        <a:buNone/>
                      </a:pPr>
                      <a:r>
                        <a:rPr lang="en-US" sz="1000">
                          <a:latin typeface="Times New Roman" panose="02020603050405020304" pitchFamily="18" charset="0"/>
                          <a:cs typeface="Times New Roman" panose="02020603050405020304" pitchFamily="18" charset="0"/>
                        </a:rPr>
                        <a:t>12</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calculate_and_print_bfps_indices()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No corresponding function</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Aggregates indices across inputs and outputs and optionally exports results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Added</a:t>
                      </a:r>
                    </a:p>
                  </a:txBody>
                  <a:tcPr marL="14506" marR="14506" marT="7253" marB="7253" anchor="ctr"/>
                </a:tc>
                <a:extLst>
                  <a:ext uri="{0D108BD9-81ED-4DB2-BD59-A6C34878D82A}">
                    <a16:rowId xmlns:a16="http://schemas.microsoft.com/office/drawing/2014/main" val="1240416033"/>
                  </a:ext>
                </a:extLst>
              </a:tr>
              <a:tr h="340491">
                <a:tc>
                  <a:txBody>
                    <a:bodyPr/>
                    <a:lstStyle/>
                    <a:p>
                      <a:pPr>
                        <a:buNone/>
                      </a:pPr>
                      <a:r>
                        <a:rPr lang="en-US" sz="1000">
                          <a:latin typeface="Times New Roman" panose="02020603050405020304" pitchFamily="18" charset="0"/>
                          <a:cs typeface="Times New Roman" panose="02020603050405020304" pitchFamily="18" charset="0"/>
                        </a:rPr>
                        <a:t>13</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Output labeling and diagnostics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Primarily prints intermediate matrices and sensitivity results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Adds input/output labels, trajectory-level records, and more descriptive diagnostics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Extended</a:t>
                      </a:r>
                    </a:p>
                  </a:txBody>
                  <a:tcPr marL="14506" marR="14506" marT="7253" marB="7253" anchor="ctr"/>
                </a:tc>
                <a:extLst>
                  <a:ext uri="{0D108BD9-81ED-4DB2-BD59-A6C34878D82A}">
                    <a16:rowId xmlns:a16="http://schemas.microsoft.com/office/drawing/2014/main" val="269552580"/>
                  </a:ext>
                </a:extLst>
              </a:tr>
              <a:tr h="446512">
                <a:tc>
                  <a:txBody>
                    <a:bodyPr/>
                    <a:lstStyle/>
                    <a:p>
                      <a:pPr>
                        <a:buNone/>
                      </a:pPr>
                      <a:r>
                        <a:rPr lang="en-US" sz="1000">
                          <a:latin typeface="Times New Roman" panose="02020603050405020304" pitchFamily="18" charset="0"/>
                          <a:cs typeface="Times New Roman" panose="02020603050405020304" pitchFamily="18" charset="0"/>
                        </a:rPr>
                        <a:t>14</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Results export</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Writes morris.csv with parameter sensitivity summaries</a:t>
                      </a:r>
                    </a:p>
                  </a:txBody>
                  <a:tcPr marL="14506" marR="14506" marT="7253" marB="7253" anchor="ctr"/>
                </a:tc>
                <a:tc>
                  <a:txBody>
                    <a:bodyPr/>
                    <a:lstStyle/>
                    <a:p>
                      <a:pPr>
                        <a:buNone/>
                      </a:pPr>
                      <a:r>
                        <a:rPr lang="en-US" sz="1000">
                          <a:latin typeface="Times New Roman" panose="02020603050405020304" pitchFamily="18" charset="0"/>
                          <a:cs typeface="Times New Roman" panose="02020603050405020304" pitchFamily="18" charset="0"/>
                        </a:rPr>
                        <a:t>Adds expanded Morris input-output and BFPS CSV exports, along with additional summary outputs</a:t>
                      </a:r>
                    </a:p>
                  </a:txBody>
                  <a:tcPr marL="14506" marR="14506" marT="7253" marB="7253" anchor="ctr"/>
                </a:tc>
                <a:tc>
                  <a:txBody>
                    <a:bodyPr/>
                    <a:lstStyle/>
                    <a:p>
                      <a:pPr>
                        <a:buNone/>
                      </a:pPr>
                      <a:r>
                        <a:rPr lang="en-US" sz="1000" dirty="0">
                          <a:latin typeface="Times New Roman" panose="02020603050405020304" pitchFamily="18" charset="0"/>
                          <a:cs typeface="Times New Roman" panose="02020603050405020304" pitchFamily="18" charset="0"/>
                        </a:rPr>
                        <a:t>Extended</a:t>
                      </a:r>
                    </a:p>
                  </a:txBody>
                  <a:tcPr marL="14506" marR="14506" marT="7253" marB="7253" anchor="ctr"/>
                </a:tc>
                <a:extLst>
                  <a:ext uri="{0D108BD9-81ED-4DB2-BD59-A6C34878D82A}">
                    <a16:rowId xmlns:a16="http://schemas.microsoft.com/office/drawing/2014/main" val="3227244611"/>
                  </a:ext>
                </a:extLst>
              </a:tr>
            </a:tbl>
          </a:graphicData>
        </a:graphic>
      </p:graphicFrame>
    </p:spTree>
    <p:extLst>
      <p:ext uri="{BB962C8B-B14F-4D97-AF65-F5344CB8AC3E}">
        <p14:creationId xmlns:p14="http://schemas.microsoft.com/office/powerpoint/2010/main" val="3634936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24128"/>
          </a:xfrm>
          <a:prstGeom prst="rect">
            <a:avLst/>
          </a:prstGeom>
          <a:solidFill>
            <a:srgbClr val="142B53"/>
          </a:solidFill>
          <a:ln>
            <a:solidFill>
              <a:srgbClr val="142B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1292840" cy="480131"/>
          </a:xfrm>
          <a:prstGeom prst="rect">
            <a:avLst/>
          </a:prstGeom>
          <a:noFill/>
        </p:spPr>
        <p:txBody>
          <a:bodyPr wrap="square" lIns="54864" tIns="54864" rIns="54864" bIns="54864">
            <a:spAutoFit/>
          </a:bodyPr>
          <a:lstStyle/>
          <a:p>
            <a:pPr algn="l"/>
            <a:r>
              <a:rPr sz="2400" b="1" dirty="0">
                <a:solidFill>
                  <a:srgbClr val="FFFFFF"/>
                </a:solidFill>
                <a:latin typeface="Times New Roman" panose="02020603050405020304" pitchFamily="18" charset="0"/>
                <a:cs typeface="Times New Roman" panose="02020603050405020304" pitchFamily="18" charset="0"/>
              </a:rPr>
              <a:t>GenX Screening Enhancements — Source Code Change Summary</a:t>
            </a:r>
          </a:p>
        </p:txBody>
      </p:sp>
      <p:sp>
        <p:nvSpPr>
          <p:cNvPr id="4" name="TextBox 3"/>
          <p:cNvSpPr txBox="1"/>
          <p:nvPr/>
        </p:nvSpPr>
        <p:spPr>
          <a:xfrm>
            <a:off x="457200" y="621792"/>
            <a:ext cx="10972800" cy="295466"/>
          </a:xfrm>
          <a:prstGeom prst="rect">
            <a:avLst/>
          </a:prstGeom>
          <a:noFill/>
        </p:spPr>
        <p:txBody>
          <a:bodyPr wrap="square" lIns="54864" tIns="54864" rIns="54864" bIns="54864">
            <a:spAutoFit/>
          </a:bodyPr>
          <a:lstStyle/>
          <a:p>
            <a:pPr algn="l"/>
            <a:r>
              <a:rPr sz="1200" b="0" dirty="0">
                <a:solidFill>
                  <a:srgbClr val="DCE6F2"/>
                </a:solidFill>
                <a:latin typeface="Times New Roman" panose="02020603050405020304" pitchFamily="18" charset="0"/>
                <a:cs typeface="Times New Roman" panose="02020603050405020304" pitchFamily="18" charset="0"/>
              </a:rPr>
              <a:t>Comparison report for </a:t>
            </a:r>
            <a:r>
              <a:rPr sz="1200" b="0" dirty="0" err="1">
                <a:solidFill>
                  <a:srgbClr val="DCE6F2"/>
                </a:solidFill>
                <a:latin typeface="Times New Roman" panose="02020603050405020304" pitchFamily="18" charset="0"/>
                <a:cs typeface="Times New Roman" panose="02020603050405020304" pitchFamily="18" charset="0"/>
              </a:rPr>
              <a:t>sr</a:t>
            </a:r>
            <a:r>
              <a:rPr lang="en-US" sz="1200" b="0" dirty="0" err="1">
                <a:solidFill>
                  <a:srgbClr val="DCE6F2"/>
                </a:solidFill>
                <a:latin typeface="Times New Roman" panose="02020603050405020304" pitchFamily="18" charset="0"/>
                <a:cs typeface="Times New Roman" panose="02020603050405020304" pitchFamily="18" charset="0"/>
              </a:rPr>
              <a:t>c</a:t>
            </a:r>
            <a:r>
              <a:rPr lang="en-US" sz="1200" b="0" dirty="0">
                <a:solidFill>
                  <a:srgbClr val="DCE6F2"/>
                </a:solidFill>
                <a:latin typeface="Times New Roman" panose="02020603050405020304" pitchFamily="18" charset="0"/>
                <a:cs typeface="Times New Roman" panose="02020603050405020304" pitchFamily="18" charset="0"/>
              </a:rPr>
              <a:t>/</a:t>
            </a:r>
            <a:r>
              <a:rPr lang="en-US" sz="1200" b="0" dirty="0" err="1">
                <a:solidFill>
                  <a:srgbClr val="DCE6F2"/>
                </a:solidFill>
                <a:latin typeface="Times New Roman" panose="02020603050405020304" pitchFamily="18" charset="0"/>
                <a:cs typeface="Times New Roman" panose="02020603050405020304" pitchFamily="18" charset="0"/>
              </a:rPr>
              <a:t>load_inputs</a:t>
            </a:r>
            <a:r>
              <a:rPr sz="1200" b="0" dirty="0">
                <a:solidFill>
                  <a:srgbClr val="DCE6F2"/>
                </a:solidFill>
                <a:latin typeface="Times New Roman" panose="02020603050405020304" pitchFamily="18" charset="0"/>
                <a:cs typeface="Times New Roman" panose="02020603050405020304" pitchFamily="18" charset="0"/>
              </a:rPr>
              <a:t>  |  Demand • Fuel prices • Resource screening</a:t>
            </a:r>
          </a:p>
        </p:txBody>
      </p:sp>
      <p:sp>
        <p:nvSpPr>
          <p:cNvPr id="5" name="Rounded Rectangle 4"/>
          <p:cNvSpPr/>
          <p:nvPr/>
        </p:nvSpPr>
        <p:spPr>
          <a:xfrm>
            <a:off x="438912" y="1225296"/>
            <a:ext cx="11292840" cy="566928"/>
          </a:xfrm>
          <a:prstGeom prst="roundRect">
            <a:avLst/>
          </a:prstGeom>
          <a:solidFill>
            <a:srgbClr val="F5F7FA"/>
          </a:solidFill>
          <a:ln>
            <a:solidFill>
              <a:srgbClr val="DA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335024"/>
            <a:ext cx="10927080" cy="326243"/>
          </a:xfrm>
          <a:prstGeom prst="rect">
            <a:avLst/>
          </a:prstGeom>
          <a:noFill/>
        </p:spPr>
        <p:txBody>
          <a:bodyPr wrap="square" lIns="54864" tIns="54864" rIns="54864" bIns="54864">
            <a:spAutoFit/>
          </a:bodyPr>
          <a:lstStyle/>
          <a:p>
            <a:pPr algn="l"/>
            <a:r>
              <a:rPr sz="1400" b="1" dirty="0">
                <a:solidFill>
                  <a:srgbClr val="142B53"/>
                </a:solidFill>
                <a:latin typeface="Times New Roman" panose="02020603050405020304" pitchFamily="18" charset="0"/>
                <a:cs typeface="Times New Roman" panose="02020603050405020304" pitchFamily="18" charset="0"/>
              </a:rPr>
              <a:t>Overall impact: load and fuel multipliers change model inputs; resource screening is the largest preprocessing change.</a:t>
            </a:r>
          </a:p>
        </p:txBody>
      </p:sp>
      <p:sp>
        <p:nvSpPr>
          <p:cNvPr id="7" name="Rounded Rectangle 6"/>
          <p:cNvSpPr/>
          <p:nvPr/>
        </p:nvSpPr>
        <p:spPr>
          <a:xfrm>
            <a:off x="438912" y="1993392"/>
            <a:ext cx="3547872" cy="3401568"/>
          </a:xfrm>
          <a:prstGeom prst="roundRect">
            <a:avLst/>
          </a:prstGeom>
          <a:solidFill>
            <a:srgbClr val="FFFFFF"/>
          </a:solidFill>
          <a:ln>
            <a:solidFill>
              <a:srgbClr val="DA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8912" y="1993392"/>
            <a:ext cx="3547872" cy="530352"/>
          </a:xfrm>
          <a:prstGeom prst="roundRect">
            <a:avLst/>
          </a:prstGeom>
          <a:solidFill>
            <a:schemeClr val="accent6"/>
          </a:solidFill>
          <a:ln>
            <a:solidFill>
              <a:srgbClr val="2A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103120"/>
            <a:ext cx="3310128" cy="326243"/>
          </a:xfrm>
          <a:prstGeom prst="rect">
            <a:avLst/>
          </a:prstGeom>
          <a:noFill/>
        </p:spPr>
        <p:txBody>
          <a:bodyPr wrap="square" lIns="54864" tIns="54864" rIns="54864" bIns="54864">
            <a:spAutoFit/>
          </a:bodyPr>
          <a:lstStyle/>
          <a:p>
            <a:pPr algn="l"/>
            <a:r>
              <a:rPr sz="1400" b="1" dirty="0">
                <a:solidFill>
                  <a:srgbClr val="FFFFFF"/>
                </a:solidFill>
                <a:latin typeface="Times New Roman" panose="02020603050405020304" pitchFamily="18" charset="0"/>
                <a:cs typeface="Times New Roman" panose="02020603050405020304" pitchFamily="18" charset="0"/>
              </a:rPr>
              <a:t>1  </a:t>
            </a:r>
            <a:r>
              <a:rPr sz="1400" b="1" dirty="0" err="1">
                <a:solidFill>
                  <a:srgbClr val="FFFFFF"/>
                </a:solidFill>
                <a:latin typeface="Times New Roman" panose="02020603050405020304" pitchFamily="18" charset="0"/>
                <a:cs typeface="Times New Roman" panose="02020603050405020304" pitchFamily="18" charset="0"/>
              </a:rPr>
              <a:t>load_demand_data.jl</a:t>
            </a:r>
            <a:endParaRPr sz="1400" b="1" dirty="0">
              <a:solidFill>
                <a:srgbClr val="FFFFFF"/>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576072" y="2596896"/>
            <a:ext cx="1024128" cy="326243"/>
          </a:xfrm>
          <a:prstGeom prst="rect">
            <a:avLst/>
          </a:prstGeom>
          <a:noFill/>
        </p:spPr>
        <p:txBody>
          <a:bodyPr wrap="square" lIns="54864" tIns="54864" rIns="54864" bIns="54864">
            <a:spAutoFit/>
          </a:bodyPr>
          <a:lstStyle/>
          <a:p>
            <a:pPr algn="l"/>
            <a:r>
              <a:rPr sz="1400" b="1" dirty="0">
                <a:solidFill>
                  <a:srgbClr val="646E7A"/>
                </a:solidFill>
                <a:latin typeface="Times New Roman" panose="02020603050405020304" pitchFamily="18" charset="0"/>
                <a:cs typeface="Times New Roman" panose="02020603050405020304" pitchFamily="18" charset="0"/>
              </a:rPr>
              <a:t>SEVERITY</a:t>
            </a:r>
          </a:p>
        </p:txBody>
      </p:sp>
      <p:sp>
        <p:nvSpPr>
          <p:cNvPr id="11" name="TextBox 10"/>
          <p:cNvSpPr txBox="1"/>
          <p:nvPr/>
        </p:nvSpPr>
        <p:spPr>
          <a:xfrm>
            <a:off x="1742005" y="2598366"/>
            <a:ext cx="2212848" cy="326243"/>
          </a:xfrm>
          <a:prstGeom prst="rect">
            <a:avLst/>
          </a:prstGeom>
          <a:noFill/>
        </p:spPr>
        <p:txBody>
          <a:bodyPr wrap="square" lIns="54864" tIns="54864" rIns="54864" bIns="54864">
            <a:spAutoFit/>
          </a:bodyPr>
          <a:lstStyle/>
          <a:p>
            <a:pPr algn="l"/>
            <a:r>
              <a:rPr sz="1400" b="1" dirty="0">
                <a:solidFill>
                  <a:srgbClr val="2A62A6"/>
                </a:solidFill>
                <a:latin typeface="Times New Roman" panose="02020603050405020304" pitchFamily="18" charset="0"/>
                <a:cs typeface="Times New Roman" panose="02020603050405020304" pitchFamily="18" charset="0"/>
              </a:rPr>
              <a:t>MEDIUM</a:t>
            </a:r>
          </a:p>
        </p:txBody>
      </p:sp>
      <p:sp>
        <p:nvSpPr>
          <p:cNvPr id="12" name="TextBox 11"/>
          <p:cNvSpPr txBox="1"/>
          <p:nvPr/>
        </p:nvSpPr>
        <p:spPr>
          <a:xfrm>
            <a:off x="576072" y="2926080"/>
            <a:ext cx="3246120" cy="326243"/>
          </a:xfrm>
          <a:prstGeom prst="rect">
            <a:avLst/>
          </a:prstGeom>
          <a:noFill/>
        </p:spPr>
        <p:txBody>
          <a:bodyPr wrap="square" lIns="54864" tIns="54864" rIns="54864" bIns="54864">
            <a:spAutoFit/>
          </a:bodyPr>
          <a:lstStyle/>
          <a:p>
            <a:pPr algn="l"/>
            <a:r>
              <a:rPr sz="1400" b="1" dirty="0">
                <a:solidFill>
                  <a:srgbClr val="142B53"/>
                </a:solidFill>
                <a:latin typeface="Times New Roman" panose="02020603050405020304" pitchFamily="18" charset="0"/>
                <a:cs typeface="Times New Roman" panose="02020603050405020304" pitchFamily="18" charset="0"/>
              </a:rPr>
              <a:t>Demand scaling</a:t>
            </a:r>
          </a:p>
        </p:txBody>
      </p:sp>
      <p:sp>
        <p:nvSpPr>
          <p:cNvPr id="13" name="TextBox 12"/>
          <p:cNvSpPr txBox="1"/>
          <p:nvPr/>
        </p:nvSpPr>
        <p:spPr>
          <a:xfrm>
            <a:off x="576072" y="3136392"/>
            <a:ext cx="3246120" cy="541687"/>
          </a:xfrm>
          <a:prstGeom prst="rect">
            <a:avLst/>
          </a:prstGeom>
          <a:noFill/>
        </p:spPr>
        <p:txBody>
          <a:bodyPr wrap="square" lIns="54864" tIns="54864" rIns="54864" bIns="54864">
            <a:spAutoFit/>
          </a:bodyPr>
          <a:lstStyle/>
          <a:p>
            <a:pPr algn="l"/>
            <a:r>
              <a:rPr sz="1400" b="0" dirty="0">
                <a:solidFill>
                  <a:srgbClr val="2D343E"/>
                </a:solidFill>
                <a:latin typeface="Times New Roman" panose="02020603050405020304" pitchFamily="18" charset="0"/>
                <a:cs typeface="Times New Roman" panose="02020603050405020304" pitchFamily="18" charset="0"/>
              </a:rPr>
              <a:t>Applie</a:t>
            </a:r>
            <a:r>
              <a:rPr lang="en-US" sz="1400" b="0" dirty="0">
                <a:solidFill>
                  <a:srgbClr val="2D343E"/>
                </a:solidFill>
                <a:latin typeface="Times New Roman" panose="02020603050405020304" pitchFamily="18" charset="0"/>
                <a:cs typeface="Times New Roman" panose="02020603050405020304" pitchFamily="18" charset="0"/>
              </a:rPr>
              <a:t>d</a:t>
            </a:r>
            <a:r>
              <a:rPr sz="1400" b="0" dirty="0">
                <a:solidFill>
                  <a:srgbClr val="2D343E"/>
                </a:solidFill>
                <a:latin typeface="Times New Roman" panose="02020603050405020304" pitchFamily="18" charset="0"/>
                <a:cs typeface="Times New Roman" panose="02020603050405020304" pitchFamily="18" charset="0"/>
              </a:rPr>
              <a:t> setup </a:t>
            </a:r>
            <a:r>
              <a:rPr sz="1400" b="0" dirty="0" err="1">
                <a:solidFill>
                  <a:srgbClr val="2D343E"/>
                </a:solidFill>
                <a:latin typeface="Times New Roman" panose="02020603050405020304" pitchFamily="18" charset="0"/>
                <a:cs typeface="Times New Roman" panose="02020603050405020304" pitchFamily="18" charset="0"/>
              </a:rPr>
              <a:t>load_multiplier</a:t>
            </a:r>
            <a:r>
              <a:rPr sz="1400" b="0" dirty="0">
                <a:solidFill>
                  <a:srgbClr val="2D343E"/>
                </a:solidFill>
                <a:latin typeface="Times New Roman" panose="02020603050405020304" pitchFamily="18" charset="0"/>
                <a:cs typeface="Times New Roman" panose="02020603050405020304" pitchFamily="18" charset="0"/>
              </a:rPr>
              <a:t> to </a:t>
            </a:r>
            <a:r>
              <a:rPr sz="1400" b="0" dirty="0" err="1">
                <a:solidFill>
                  <a:srgbClr val="2D343E"/>
                </a:solidFill>
                <a:latin typeface="Times New Roman" panose="02020603050405020304" pitchFamily="18" charset="0"/>
                <a:cs typeface="Times New Roman" panose="02020603050405020304" pitchFamily="18" charset="0"/>
              </a:rPr>
              <a:t>pD</a:t>
            </a:r>
            <a:r>
              <a:rPr sz="1400" b="0" dirty="0">
                <a:solidFill>
                  <a:srgbClr val="2D343E"/>
                </a:solidFill>
                <a:latin typeface="Times New Roman" panose="02020603050405020304" pitchFamily="18" charset="0"/>
                <a:cs typeface="Times New Roman" panose="02020603050405020304" pitchFamily="18" charset="0"/>
              </a:rPr>
              <a:t>, changing demand across zones and times.</a:t>
            </a:r>
          </a:p>
        </p:txBody>
      </p:sp>
      <p:sp>
        <p:nvSpPr>
          <p:cNvPr id="14" name="TextBox 13"/>
          <p:cNvSpPr txBox="1"/>
          <p:nvPr/>
        </p:nvSpPr>
        <p:spPr>
          <a:xfrm>
            <a:off x="576072" y="3648456"/>
            <a:ext cx="3246120" cy="326243"/>
          </a:xfrm>
          <a:prstGeom prst="rect">
            <a:avLst/>
          </a:prstGeom>
          <a:noFill/>
        </p:spPr>
        <p:txBody>
          <a:bodyPr wrap="square" lIns="54864" tIns="54864" rIns="54864" bIns="54864">
            <a:spAutoFit/>
          </a:bodyPr>
          <a:lstStyle/>
          <a:p>
            <a:pPr algn="l"/>
            <a:r>
              <a:rPr sz="1400" b="1" dirty="0">
                <a:solidFill>
                  <a:srgbClr val="142B53"/>
                </a:solidFill>
                <a:latin typeface="Times New Roman" panose="02020603050405020304" pitchFamily="18" charset="0"/>
                <a:cs typeface="Times New Roman" panose="02020603050405020304" pitchFamily="18" charset="0"/>
              </a:rPr>
              <a:t>Traceability</a:t>
            </a:r>
          </a:p>
        </p:txBody>
      </p:sp>
      <p:sp>
        <p:nvSpPr>
          <p:cNvPr id="15" name="TextBox 14"/>
          <p:cNvSpPr txBox="1"/>
          <p:nvPr/>
        </p:nvSpPr>
        <p:spPr>
          <a:xfrm>
            <a:off x="576072" y="3858768"/>
            <a:ext cx="3246120" cy="541687"/>
          </a:xfrm>
          <a:prstGeom prst="rect">
            <a:avLst/>
          </a:prstGeom>
          <a:noFill/>
        </p:spPr>
        <p:txBody>
          <a:bodyPr wrap="square" lIns="54864" tIns="54864" rIns="54864" bIns="54864">
            <a:spAutoFit/>
          </a:bodyPr>
          <a:lstStyle/>
          <a:p>
            <a:pPr algn="l"/>
            <a:r>
              <a:rPr sz="1400" b="0" dirty="0">
                <a:solidFill>
                  <a:srgbClr val="2D343E"/>
                </a:solidFill>
                <a:latin typeface="Times New Roman" panose="02020603050405020304" pitchFamily="18" charset="0"/>
                <a:cs typeface="Times New Roman" panose="02020603050405020304" pitchFamily="18" charset="0"/>
              </a:rPr>
              <a:t>Adds DEMAND metadata: zone, multiplier, and eligibility flags.</a:t>
            </a:r>
          </a:p>
        </p:txBody>
      </p:sp>
      <p:sp>
        <p:nvSpPr>
          <p:cNvPr id="16" name="Rounded Rectangle 15"/>
          <p:cNvSpPr/>
          <p:nvPr/>
        </p:nvSpPr>
        <p:spPr>
          <a:xfrm>
            <a:off x="4315968" y="1993392"/>
            <a:ext cx="3547872" cy="3401568"/>
          </a:xfrm>
          <a:prstGeom prst="roundRect">
            <a:avLst/>
          </a:prstGeom>
          <a:solidFill>
            <a:srgbClr val="FFFFFF"/>
          </a:solidFill>
          <a:ln>
            <a:solidFill>
              <a:srgbClr val="DA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315968" y="1993392"/>
            <a:ext cx="3547872" cy="530352"/>
          </a:xfrm>
          <a:prstGeom prst="roundRect">
            <a:avLst/>
          </a:prstGeom>
          <a:solidFill>
            <a:schemeClr val="accent6"/>
          </a:solidFill>
          <a:ln>
            <a:solidFill>
              <a:srgbClr val="007E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25696" y="2103120"/>
            <a:ext cx="3310128" cy="274320"/>
          </a:xfrm>
          <a:prstGeom prst="rect">
            <a:avLst/>
          </a:prstGeom>
          <a:noFill/>
        </p:spPr>
        <p:txBody>
          <a:bodyPr wrap="square" lIns="54864" tIns="54864" rIns="54864" bIns="54864">
            <a:spAutoFit/>
          </a:bodyPr>
          <a:lstStyle/>
          <a:p>
            <a:pPr algn="l"/>
            <a:r>
              <a:rPr sz="1300" b="1">
                <a:solidFill>
                  <a:srgbClr val="FFFFFF"/>
                </a:solidFill>
                <a:latin typeface="Aptos"/>
              </a:rPr>
              <a:t>2  load_fuels_data.jl</a:t>
            </a:r>
          </a:p>
        </p:txBody>
      </p:sp>
      <p:sp>
        <p:nvSpPr>
          <p:cNvPr id="19" name="TextBox 18"/>
          <p:cNvSpPr txBox="1"/>
          <p:nvPr/>
        </p:nvSpPr>
        <p:spPr>
          <a:xfrm>
            <a:off x="4453128" y="2596896"/>
            <a:ext cx="1024128" cy="326243"/>
          </a:xfrm>
          <a:prstGeom prst="rect">
            <a:avLst/>
          </a:prstGeom>
          <a:noFill/>
        </p:spPr>
        <p:txBody>
          <a:bodyPr wrap="square" lIns="54864" tIns="54864" rIns="54864" bIns="54864">
            <a:spAutoFit/>
          </a:bodyPr>
          <a:lstStyle/>
          <a:p>
            <a:pPr algn="l"/>
            <a:r>
              <a:rPr sz="1400" b="1" dirty="0">
                <a:solidFill>
                  <a:srgbClr val="646E7A"/>
                </a:solidFill>
                <a:latin typeface="Times New Roman" panose="02020603050405020304" pitchFamily="18" charset="0"/>
                <a:cs typeface="Times New Roman" panose="02020603050405020304" pitchFamily="18" charset="0"/>
              </a:rPr>
              <a:t>SEVERITY</a:t>
            </a:r>
          </a:p>
        </p:txBody>
      </p:sp>
      <p:sp>
        <p:nvSpPr>
          <p:cNvPr id="20" name="TextBox 19"/>
          <p:cNvSpPr txBox="1"/>
          <p:nvPr/>
        </p:nvSpPr>
        <p:spPr>
          <a:xfrm>
            <a:off x="5724144" y="2598365"/>
            <a:ext cx="2212848" cy="326243"/>
          </a:xfrm>
          <a:prstGeom prst="rect">
            <a:avLst/>
          </a:prstGeom>
          <a:noFill/>
        </p:spPr>
        <p:txBody>
          <a:bodyPr wrap="square" lIns="54864" tIns="54864" rIns="54864" bIns="54864">
            <a:spAutoFit/>
          </a:bodyPr>
          <a:lstStyle/>
          <a:p>
            <a:pPr algn="l"/>
            <a:r>
              <a:rPr sz="1400" b="1" dirty="0">
                <a:solidFill>
                  <a:srgbClr val="007E85"/>
                </a:solidFill>
                <a:latin typeface="Times New Roman" panose="02020603050405020304" pitchFamily="18" charset="0"/>
                <a:cs typeface="Times New Roman" panose="02020603050405020304" pitchFamily="18" charset="0"/>
              </a:rPr>
              <a:t>MEDIUM</a:t>
            </a:r>
          </a:p>
        </p:txBody>
      </p:sp>
      <p:sp>
        <p:nvSpPr>
          <p:cNvPr id="21" name="TextBox 20"/>
          <p:cNvSpPr txBox="1"/>
          <p:nvPr/>
        </p:nvSpPr>
        <p:spPr>
          <a:xfrm>
            <a:off x="4453128" y="2926080"/>
            <a:ext cx="3246120" cy="326243"/>
          </a:xfrm>
          <a:prstGeom prst="rect">
            <a:avLst/>
          </a:prstGeom>
          <a:noFill/>
        </p:spPr>
        <p:txBody>
          <a:bodyPr wrap="square" lIns="54864" tIns="54864" rIns="54864" bIns="54864">
            <a:spAutoFit/>
          </a:bodyPr>
          <a:lstStyle/>
          <a:p>
            <a:pPr algn="l"/>
            <a:r>
              <a:rPr sz="1400" b="1" dirty="0">
                <a:solidFill>
                  <a:srgbClr val="142B53"/>
                </a:solidFill>
                <a:latin typeface="Times New Roman" panose="02020603050405020304" pitchFamily="18" charset="0"/>
                <a:cs typeface="Times New Roman" panose="02020603050405020304" pitchFamily="18" charset="0"/>
              </a:rPr>
              <a:t>Fuel-price scaling</a:t>
            </a:r>
          </a:p>
        </p:txBody>
      </p:sp>
      <p:sp>
        <p:nvSpPr>
          <p:cNvPr id="22" name="TextBox 21"/>
          <p:cNvSpPr txBox="1"/>
          <p:nvPr/>
        </p:nvSpPr>
        <p:spPr>
          <a:xfrm>
            <a:off x="4453128" y="3136392"/>
            <a:ext cx="3246120" cy="757130"/>
          </a:xfrm>
          <a:prstGeom prst="rect">
            <a:avLst/>
          </a:prstGeom>
          <a:noFill/>
        </p:spPr>
        <p:txBody>
          <a:bodyPr wrap="square" lIns="54864" tIns="54864" rIns="54864" bIns="54864">
            <a:spAutoFit/>
          </a:bodyPr>
          <a:lstStyle/>
          <a:p>
            <a:pPr algn="l"/>
            <a:r>
              <a:rPr sz="1400" b="0" dirty="0">
                <a:solidFill>
                  <a:srgbClr val="2D343E"/>
                </a:solidFill>
                <a:latin typeface="Aptos"/>
              </a:rPr>
              <a:t>Applie</a:t>
            </a:r>
            <a:r>
              <a:rPr lang="en-US" sz="1400" b="0" dirty="0">
                <a:solidFill>
                  <a:srgbClr val="2D343E"/>
                </a:solidFill>
                <a:latin typeface="Aptos"/>
              </a:rPr>
              <a:t>d</a:t>
            </a:r>
            <a:r>
              <a:rPr sz="1400" b="0" dirty="0">
                <a:solidFill>
                  <a:srgbClr val="2D343E"/>
                </a:solidFill>
                <a:latin typeface="Aptos"/>
              </a:rPr>
              <a:t> </a:t>
            </a:r>
            <a:r>
              <a:rPr sz="1400" b="0" dirty="0" err="1">
                <a:solidFill>
                  <a:srgbClr val="2D343E"/>
                </a:solidFill>
                <a:latin typeface="Aptos"/>
              </a:rPr>
              <a:t>fuel_price_multiplier</a:t>
            </a:r>
            <a:r>
              <a:rPr sz="1400" b="0" dirty="0">
                <a:solidFill>
                  <a:srgbClr val="2D343E"/>
                </a:solidFill>
                <a:latin typeface="Aptos"/>
              </a:rPr>
              <a:t> to base fuel costs, affecting dispatch and system cost.</a:t>
            </a:r>
          </a:p>
        </p:txBody>
      </p:sp>
      <p:sp>
        <p:nvSpPr>
          <p:cNvPr id="23" name="TextBox 22"/>
          <p:cNvSpPr txBox="1"/>
          <p:nvPr/>
        </p:nvSpPr>
        <p:spPr>
          <a:xfrm>
            <a:off x="4453128" y="3835986"/>
            <a:ext cx="3246120" cy="326243"/>
          </a:xfrm>
          <a:prstGeom prst="rect">
            <a:avLst/>
          </a:prstGeom>
          <a:noFill/>
        </p:spPr>
        <p:txBody>
          <a:bodyPr wrap="square" lIns="54864" tIns="54864" rIns="54864" bIns="54864">
            <a:spAutoFit/>
          </a:bodyPr>
          <a:lstStyle/>
          <a:p>
            <a:pPr algn="l"/>
            <a:r>
              <a:rPr sz="1400" b="1" dirty="0">
                <a:solidFill>
                  <a:srgbClr val="142B53"/>
                </a:solidFill>
                <a:latin typeface="Times New Roman" panose="02020603050405020304" pitchFamily="18" charset="0"/>
                <a:cs typeface="Times New Roman" panose="02020603050405020304" pitchFamily="18" charset="0"/>
              </a:rPr>
              <a:t>Robustness &amp; tracking</a:t>
            </a:r>
          </a:p>
        </p:txBody>
      </p:sp>
      <p:sp>
        <p:nvSpPr>
          <p:cNvPr id="24" name="TextBox 23"/>
          <p:cNvSpPr txBox="1"/>
          <p:nvPr/>
        </p:nvSpPr>
        <p:spPr>
          <a:xfrm>
            <a:off x="4453128" y="4085177"/>
            <a:ext cx="3246120" cy="541687"/>
          </a:xfrm>
          <a:prstGeom prst="rect">
            <a:avLst/>
          </a:prstGeom>
          <a:noFill/>
        </p:spPr>
        <p:txBody>
          <a:bodyPr wrap="square" lIns="54864" tIns="54864" rIns="54864" bIns="54864">
            <a:spAutoFit/>
          </a:bodyPr>
          <a:lstStyle/>
          <a:p>
            <a:pPr algn="l"/>
            <a:r>
              <a:rPr sz="1400" b="0" dirty="0">
                <a:solidFill>
                  <a:srgbClr val="2D343E"/>
                </a:solidFill>
                <a:latin typeface="Times New Roman" panose="02020603050405020304" pitchFamily="18" charset="0"/>
                <a:cs typeface="Times New Roman" panose="02020603050405020304" pitchFamily="18" charset="0"/>
              </a:rPr>
              <a:t>Adds hydrogen case aliases and FUELS metadata; exempts “None” from screening.</a:t>
            </a:r>
          </a:p>
        </p:txBody>
      </p:sp>
      <p:sp>
        <p:nvSpPr>
          <p:cNvPr id="25" name="Rounded Rectangle 24"/>
          <p:cNvSpPr/>
          <p:nvPr/>
        </p:nvSpPr>
        <p:spPr>
          <a:xfrm>
            <a:off x="8193024" y="1993392"/>
            <a:ext cx="3547872" cy="3401568"/>
          </a:xfrm>
          <a:prstGeom prst="roundRect">
            <a:avLst/>
          </a:prstGeom>
          <a:solidFill>
            <a:srgbClr val="FFFFFF"/>
          </a:solidFill>
          <a:ln>
            <a:solidFill>
              <a:srgbClr val="DA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193024" y="1993392"/>
            <a:ext cx="3547872" cy="530352"/>
          </a:xfrm>
          <a:prstGeom prst="roundRect">
            <a:avLst/>
          </a:prstGeom>
          <a:solidFill>
            <a:srgbClr val="B03939"/>
          </a:solidFill>
          <a:ln>
            <a:solidFill>
              <a:srgbClr val="B03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02752" y="2103120"/>
            <a:ext cx="3310128" cy="274320"/>
          </a:xfrm>
          <a:prstGeom prst="rect">
            <a:avLst/>
          </a:prstGeom>
          <a:noFill/>
        </p:spPr>
        <p:txBody>
          <a:bodyPr wrap="square" lIns="54864" tIns="54864" rIns="54864" bIns="54864">
            <a:spAutoFit/>
          </a:bodyPr>
          <a:lstStyle/>
          <a:p>
            <a:pPr algn="l"/>
            <a:r>
              <a:rPr sz="1300" b="1">
                <a:solidFill>
                  <a:srgbClr val="FFFFFF"/>
                </a:solidFill>
                <a:latin typeface="Aptos"/>
              </a:rPr>
              <a:t>3  load_resources_data.jl</a:t>
            </a:r>
          </a:p>
        </p:txBody>
      </p:sp>
      <p:sp>
        <p:nvSpPr>
          <p:cNvPr id="28" name="TextBox 27"/>
          <p:cNvSpPr txBox="1"/>
          <p:nvPr/>
        </p:nvSpPr>
        <p:spPr>
          <a:xfrm>
            <a:off x="8344698" y="2596896"/>
            <a:ext cx="1024128" cy="326243"/>
          </a:xfrm>
          <a:prstGeom prst="rect">
            <a:avLst/>
          </a:prstGeom>
          <a:noFill/>
        </p:spPr>
        <p:txBody>
          <a:bodyPr wrap="square" lIns="54864" tIns="54864" rIns="54864" bIns="54864">
            <a:spAutoFit/>
          </a:bodyPr>
          <a:lstStyle/>
          <a:p>
            <a:pPr algn="l"/>
            <a:r>
              <a:rPr sz="1400" b="1" dirty="0">
                <a:solidFill>
                  <a:srgbClr val="646E7A"/>
                </a:solidFill>
                <a:latin typeface="Times New Roman" panose="02020603050405020304" pitchFamily="18" charset="0"/>
                <a:cs typeface="Times New Roman" panose="02020603050405020304" pitchFamily="18" charset="0"/>
              </a:rPr>
              <a:t>SEVERITY</a:t>
            </a:r>
          </a:p>
        </p:txBody>
      </p:sp>
      <p:sp>
        <p:nvSpPr>
          <p:cNvPr id="29" name="TextBox 28"/>
          <p:cNvSpPr txBox="1"/>
          <p:nvPr/>
        </p:nvSpPr>
        <p:spPr>
          <a:xfrm>
            <a:off x="9607659" y="2570452"/>
            <a:ext cx="2212848" cy="326243"/>
          </a:xfrm>
          <a:prstGeom prst="rect">
            <a:avLst/>
          </a:prstGeom>
          <a:noFill/>
        </p:spPr>
        <p:txBody>
          <a:bodyPr wrap="square" lIns="54864" tIns="54864" rIns="54864" bIns="54864">
            <a:spAutoFit/>
          </a:bodyPr>
          <a:lstStyle/>
          <a:p>
            <a:pPr algn="l"/>
            <a:r>
              <a:rPr sz="1400" b="1" dirty="0">
                <a:solidFill>
                  <a:srgbClr val="B03939"/>
                </a:solidFill>
                <a:latin typeface="Times New Roman" panose="02020603050405020304" pitchFamily="18" charset="0"/>
                <a:cs typeface="Times New Roman" panose="02020603050405020304" pitchFamily="18" charset="0"/>
              </a:rPr>
              <a:t>HIGH</a:t>
            </a:r>
          </a:p>
        </p:txBody>
      </p:sp>
      <p:sp>
        <p:nvSpPr>
          <p:cNvPr id="30" name="TextBox 29"/>
          <p:cNvSpPr txBox="1"/>
          <p:nvPr/>
        </p:nvSpPr>
        <p:spPr>
          <a:xfrm>
            <a:off x="8330184" y="2810149"/>
            <a:ext cx="3246120" cy="326243"/>
          </a:xfrm>
          <a:prstGeom prst="rect">
            <a:avLst/>
          </a:prstGeom>
          <a:noFill/>
        </p:spPr>
        <p:txBody>
          <a:bodyPr wrap="square" lIns="54864" tIns="54864" rIns="54864" bIns="54864">
            <a:spAutoFit/>
          </a:bodyPr>
          <a:lstStyle/>
          <a:p>
            <a:pPr algn="l"/>
            <a:r>
              <a:rPr sz="1400" b="1" dirty="0">
                <a:solidFill>
                  <a:srgbClr val="142B53"/>
                </a:solidFill>
                <a:latin typeface="Times New Roman" panose="02020603050405020304" pitchFamily="18" charset="0"/>
                <a:cs typeface="Times New Roman" panose="02020603050405020304" pitchFamily="18" charset="0"/>
              </a:rPr>
              <a:t>Screening engine</a:t>
            </a:r>
          </a:p>
        </p:txBody>
      </p:sp>
      <p:sp>
        <p:nvSpPr>
          <p:cNvPr id="31" name="TextBox 30"/>
          <p:cNvSpPr txBox="1"/>
          <p:nvPr/>
        </p:nvSpPr>
        <p:spPr>
          <a:xfrm>
            <a:off x="8309864" y="3019979"/>
            <a:ext cx="3246120" cy="757130"/>
          </a:xfrm>
          <a:prstGeom prst="rect">
            <a:avLst/>
          </a:prstGeom>
          <a:noFill/>
        </p:spPr>
        <p:txBody>
          <a:bodyPr wrap="square" lIns="54864" tIns="54864" rIns="54864" bIns="54864">
            <a:spAutoFit/>
          </a:bodyPr>
          <a:lstStyle/>
          <a:p>
            <a:pPr algn="l"/>
            <a:r>
              <a:rPr sz="1400" b="0" dirty="0">
                <a:solidFill>
                  <a:srgbClr val="2D343E"/>
                </a:solidFill>
                <a:latin typeface="Times New Roman" panose="02020603050405020304" pitchFamily="18" charset="0"/>
                <a:cs typeface="Times New Roman" panose="02020603050405020304" pitchFamily="18" charset="0"/>
              </a:rPr>
              <a:t>New </a:t>
            </a:r>
            <a:r>
              <a:rPr sz="1400" b="0" dirty="0" err="1">
                <a:solidFill>
                  <a:srgbClr val="2D343E"/>
                </a:solidFill>
                <a:latin typeface="Times New Roman" panose="02020603050405020304" pitchFamily="18" charset="0"/>
                <a:cs typeface="Times New Roman" panose="02020603050405020304" pitchFamily="18" charset="0"/>
              </a:rPr>
              <a:t>apply_screening_parameters</a:t>
            </a:r>
            <a:r>
              <a:rPr sz="1400" b="0" dirty="0">
                <a:solidFill>
                  <a:srgbClr val="2D343E"/>
                </a:solidFill>
                <a:latin typeface="Times New Roman" panose="02020603050405020304" pitchFamily="18" charset="0"/>
                <a:cs typeface="Times New Roman" panose="02020603050405020304" pitchFamily="18" charset="0"/>
              </a:rPr>
              <a:t>! applie</a:t>
            </a:r>
            <a:r>
              <a:rPr lang="en-US" sz="1400" b="0" dirty="0">
                <a:solidFill>
                  <a:srgbClr val="2D343E"/>
                </a:solidFill>
                <a:latin typeface="Times New Roman" panose="02020603050405020304" pitchFamily="18" charset="0"/>
                <a:cs typeface="Times New Roman" panose="02020603050405020304" pitchFamily="18" charset="0"/>
              </a:rPr>
              <a:t>d</a:t>
            </a:r>
            <a:r>
              <a:rPr sz="1400" b="0" dirty="0">
                <a:solidFill>
                  <a:srgbClr val="2D343E"/>
                </a:solidFill>
                <a:latin typeface="Times New Roman" panose="02020603050405020304" pitchFamily="18" charset="0"/>
                <a:cs typeface="Times New Roman" panose="02020603050405020304" pitchFamily="18" charset="0"/>
              </a:rPr>
              <a:t> setup-driven multipliers and binary switches by resource type.</a:t>
            </a:r>
          </a:p>
        </p:txBody>
      </p:sp>
      <p:sp>
        <p:nvSpPr>
          <p:cNvPr id="32" name="TextBox 31"/>
          <p:cNvSpPr txBox="1"/>
          <p:nvPr/>
        </p:nvSpPr>
        <p:spPr>
          <a:xfrm>
            <a:off x="8309864" y="3672864"/>
            <a:ext cx="3246120" cy="326243"/>
          </a:xfrm>
          <a:prstGeom prst="rect">
            <a:avLst/>
          </a:prstGeom>
          <a:noFill/>
        </p:spPr>
        <p:txBody>
          <a:bodyPr wrap="square" lIns="54864" tIns="54864" rIns="54864" bIns="54864">
            <a:spAutoFit/>
          </a:bodyPr>
          <a:lstStyle/>
          <a:p>
            <a:pPr algn="l"/>
            <a:r>
              <a:rPr sz="1400" b="1" dirty="0">
                <a:solidFill>
                  <a:srgbClr val="142B53"/>
                </a:solidFill>
                <a:latin typeface="Times New Roman" panose="02020603050405020304" pitchFamily="18" charset="0"/>
                <a:cs typeface="Times New Roman" panose="02020603050405020304" pitchFamily="18" charset="0"/>
              </a:rPr>
              <a:t>Planning assumptions</a:t>
            </a:r>
          </a:p>
        </p:txBody>
      </p:sp>
      <p:sp>
        <p:nvSpPr>
          <p:cNvPr id="33" name="TextBox 32"/>
          <p:cNvSpPr txBox="1"/>
          <p:nvPr/>
        </p:nvSpPr>
        <p:spPr>
          <a:xfrm>
            <a:off x="8309864" y="3883176"/>
            <a:ext cx="3246120" cy="757130"/>
          </a:xfrm>
          <a:prstGeom prst="rect">
            <a:avLst/>
          </a:prstGeom>
          <a:noFill/>
        </p:spPr>
        <p:txBody>
          <a:bodyPr wrap="square" lIns="54864" tIns="54864" rIns="54864" bIns="54864">
            <a:spAutoFit/>
          </a:bodyPr>
          <a:lstStyle/>
          <a:p>
            <a:pPr algn="l"/>
            <a:r>
              <a:rPr sz="1400" b="0" dirty="0">
                <a:solidFill>
                  <a:srgbClr val="2D343E"/>
                </a:solidFill>
                <a:latin typeface="Times New Roman" panose="02020603050405020304" pitchFamily="18" charset="0"/>
                <a:cs typeface="Times New Roman" panose="02020603050405020304" pitchFamily="18" charset="0"/>
              </a:rPr>
              <a:t>Controls gas retirement, nuclear availability, IRA and VRE/storage costs, siting limits, and flexible-demand capacity.</a:t>
            </a:r>
          </a:p>
        </p:txBody>
      </p:sp>
      <p:sp>
        <p:nvSpPr>
          <p:cNvPr id="34" name="TextBox 33"/>
          <p:cNvSpPr txBox="1"/>
          <p:nvPr/>
        </p:nvSpPr>
        <p:spPr>
          <a:xfrm>
            <a:off x="8267337" y="4550336"/>
            <a:ext cx="3246120" cy="326243"/>
          </a:xfrm>
          <a:prstGeom prst="rect">
            <a:avLst/>
          </a:prstGeom>
          <a:noFill/>
        </p:spPr>
        <p:txBody>
          <a:bodyPr wrap="square" lIns="54864" tIns="54864" rIns="54864" bIns="54864">
            <a:spAutoFit/>
          </a:bodyPr>
          <a:lstStyle/>
          <a:p>
            <a:pPr algn="l"/>
            <a:r>
              <a:rPr sz="1400" b="1" dirty="0">
                <a:solidFill>
                  <a:srgbClr val="142B53"/>
                </a:solidFill>
                <a:latin typeface="Times New Roman" panose="02020603050405020304" pitchFamily="18" charset="0"/>
                <a:cs typeface="Times New Roman" panose="02020603050405020304" pitchFamily="18" charset="0"/>
              </a:rPr>
              <a:t>Pipeline change</a:t>
            </a:r>
          </a:p>
        </p:txBody>
      </p:sp>
      <p:sp>
        <p:nvSpPr>
          <p:cNvPr id="35" name="TextBox 34"/>
          <p:cNvSpPr txBox="1"/>
          <p:nvPr/>
        </p:nvSpPr>
        <p:spPr>
          <a:xfrm>
            <a:off x="8302752" y="4746373"/>
            <a:ext cx="3246120" cy="541687"/>
          </a:xfrm>
          <a:prstGeom prst="rect">
            <a:avLst/>
          </a:prstGeom>
          <a:noFill/>
        </p:spPr>
        <p:txBody>
          <a:bodyPr wrap="square" lIns="54864" tIns="54864" rIns="54864" bIns="54864">
            <a:spAutoFit/>
          </a:bodyPr>
          <a:lstStyle/>
          <a:p>
            <a:pPr algn="l"/>
            <a:r>
              <a:rPr sz="1400" b="0" dirty="0">
                <a:solidFill>
                  <a:srgbClr val="2D343E"/>
                </a:solidFill>
                <a:latin typeface="Times New Roman" panose="02020603050405020304" pitchFamily="18" charset="0"/>
                <a:cs typeface="Times New Roman" panose="02020603050405020304" pitchFamily="18" charset="0"/>
              </a:rPr>
              <a:t>Screening runs before resource objects are created and validated.</a:t>
            </a:r>
          </a:p>
        </p:txBody>
      </p:sp>
      <p:sp>
        <p:nvSpPr>
          <p:cNvPr id="36" name="Rounded Rectangle 35"/>
          <p:cNvSpPr/>
          <p:nvPr/>
        </p:nvSpPr>
        <p:spPr>
          <a:xfrm>
            <a:off x="438912" y="5577840"/>
            <a:ext cx="11292840" cy="804672"/>
          </a:xfrm>
          <a:prstGeom prst="roundRect">
            <a:avLst/>
          </a:prstGeom>
          <a:solidFill>
            <a:srgbClr val="F5F7FA"/>
          </a:solidFill>
          <a:ln>
            <a:solidFill>
              <a:srgbClr val="DA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1792" y="5669280"/>
            <a:ext cx="1261872" cy="541687"/>
          </a:xfrm>
          <a:prstGeom prst="rect">
            <a:avLst/>
          </a:prstGeom>
          <a:noFill/>
        </p:spPr>
        <p:txBody>
          <a:bodyPr wrap="square" lIns="54864" tIns="54864" rIns="54864" bIns="54864">
            <a:spAutoFit/>
          </a:bodyPr>
          <a:lstStyle/>
          <a:p>
            <a:pPr algn="l"/>
            <a:r>
              <a:rPr sz="1400" b="1" dirty="0">
                <a:solidFill>
                  <a:srgbClr val="142B53"/>
                </a:solidFill>
                <a:latin typeface="Times New Roman" panose="02020603050405020304" pitchFamily="18" charset="0"/>
                <a:cs typeface="Times New Roman" panose="02020603050405020304" pitchFamily="18" charset="0"/>
              </a:rPr>
              <a:t>KEY TAKEAWAYS</a:t>
            </a:r>
          </a:p>
        </p:txBody>
      </p:sp>
      <p:sp>
        <p:nvSpPr>
          <p:cNvPr id="38" name="TextBox 37"/>
          <p:cNvSpPr txBox="1"/>
          <p:nvPr/>
        </p:nvSpPr>
        <p:spPr>
          <a:xfrm>
            <a:off x="1901952" y="5650992"/>
            <a:ext cx="2852928" cy="541687"/>
          </a:xfrm>
          <a:prstGeom prst="rect">
            <a:avLst/>
          </a:prstGeom>
          <a:noFill/>
        </p:spPr>
        <p:txBody>
          <a:bodyPr wrap="square" lIns="54864" tIns="54864" rIns="54864" bIns="54864">
            <a:spAutoFit/>
          </a:bodyPr>
          <a:lstStyle/>
          <a:p>
            <a:pPr algn="l"/>
            <a:r>
              <a:rPr sz="1400" b="1" dirty="0">
                <a:solidFill>
                  <a:srgbClr val="2D343E"/>
                </a:solidFill>
                <a:latin typeface="Times New Roman" panose="02020603050405020304" pitchFamily="18" charset="0"/>
                <a:cs typeface="Times New Roman" panose="02020603050405020304" pitchFamily="18" charset="0"/>
              </a:rPr>
              <a:t>Demand + fuel multipliers
Directly alter optimization inputs.</a:t>
            </a:r>
          </a:p>
        </p:txBody>
      </p:sp>
      <p:sp>
        <p:nvSpPr>
          <p:cNvPr id="39" name="TextBox 38"/>
          <p:cNvSpPr txBox="1"/>
          <p:nvPr/>
        </p:nvSpPr>
        <p:spPr>
          <a:xfrm>
            <a:off x="4882896" y="5650992"/>
            <a:ext cx="3054096" cy="757130"/>
          </a:xfrm>
          <a:prstGeom prst="rect">
            <a:avLst/>
          </a:prstGeom>
          <a:noFill/>
        </p:spPr>
        <p:txBody>
          <a:bodyPr wrap="square" lIns="54864" tIns="54864" rIns="54864" bIns="54864">
            <a:spAutoFit/>
          </a:bodyPr>
          <a:lstStyle/>
          <a:p>
            <a:pPr algn="l"/>
            <a:r>
              <a:rPr sz="1400" b="1" dirty="0">
                <a:solidFill>
                  <a:srgbClr val="2D343E"/>
                </a:solidFill>
                <a:latin typeface="Times New Roman" panose="02020603050405020304" pitchFamily="18" charset="0"/>
                <a:cs typeface="Times New Roman" panose="02020603050405020304" pitchFamily="18" charset="0"/>
              </a:rPr>
              <a:t>Resource screening
Changes feasibility and investment assumptions.</a:t>
            </a:r>
          </a:p>
        </p:txBody>
      </p:sp>
      <p:sp>
        <p:nvSpPr>
          <p:cNvPr id="40" name="TextBox 39"/>
          <p:cNvSpPr txBox="1"/>
          <p:nvPr/>
        </p:nvSpPr>
        <p:spPr>
          <a:xfrm>
            <a:off x="8101583" y="5650992"/>
            <a:ext cx="3337560" cy="757130"/>
          </a:xfrm>
          <a:prstGeom prst="rect">
            <a:avLst/>
          </a:prstGeom>
          <a:noFill/>
        </p:spPr>
        <p:txBody>
          <a:bodyPr wrap="square" lIns="54864" tIns="54864" rIns="54864" bIns="54864">
            <a:spAutoFit/>
          </a:bodyPr>
          <a:lstStyle/>
          <a:p>
            <a:pPr algn="l"/>
            <a:r>
              <a:rPr sz="1400" b="1" dirty="0">
                <a:solidFill>
                  <a:srgbClr val="2D343E"/>
                </a:solidFill>
                <a:latin typeface="Times New Roman" panose="02020603050405020304" pitchFamily="18" charset="0"/>
                <a:cs typeface="Times New Roman" panose="02020603050405020304" pitchFamily="18" charset="0"/>
              </a:rPr>
              <a:t>Traceability
New parameter tables support screening workflows.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C560C-379D-34F2-66DB-7BC45A1EFF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F62977-E745-39B2-60FC-66C9534450EF}"/>
              </a:ext>
            </a:extLst>
          </p:cNvPr>
          <p:cNvSpPr/>
          <p:nvPr/>
        </p:nvSpPr>
        <p:spPr>
          <a:xfrm>
            <a:off x="0" y="0"/>
            <a:ext cx="12191695" cy="1024128"/>
          </a:xfrm>
          <a:prstGeom prst="rect">
            <a:avLst/>
          </a:prstGeom>
          <a:solidFill>
            <a:schemeClr val="accent6"/>
          </a:solidFill>
          <a:ln>
            <a:solidFill>
              <a:srgbClr val="142B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09D04058-604D-59D1-FADA-78E60B655863}"/>
              </a:ext>
            </a:extLst>
          </p:cNvPr>
          <p:cNvSpPr txBox="1"/>
          <p:nvPr/>
        </p:nvSpPr>
        <p:spPr>
          <a:xfrm>
            <a:off x="292754" y="237744"/>
            <a:ext cx="3310128" cy="480131"/>
          </a:xfrm>
          <a:prstGeom prst="rect">
            <a:avLst/>
          </a:prstGeom>
          <a:noFill/>
        </p:spPr>
        <p:txBody>
          <a:bodyPr wrap="square" lIns="54864" tIns="54864" rIns="54864" bIns="54864">
            <a:spAutoFit/>
          </a:bodyPr>
          <a:lstStyle/>
          <a:p>
            <a:pPr algn="l"/>
            <a:r>
              <a:rPr sz="2400" b="1" dirty="0" err="1">
                <a:solidFill>
                  <a:srgbClr val="FFFFFF"/>
                </a:solidFill>
                <a:latin typeface="Times New Roman" panose="02020603050405020304" pitchFamily="18" charset="0"/>
                <a:cs typeface="Times New Roman" panose="02020603050405020304" pitchFamily="18" charset="0"/>
              </a:rPr>
              <a:t>load_demand_data.jl</a:t>
            </a:r>
            <a:endParaRPr sz="2400" b="1" dirty="0">
              <a:solidFill>
                <a:srgbClr val="FFFFFF"/>
              </a:solidFill>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BA535C66-4D6F-BB28-4258-8A33DAF8BDFB}"/>
              </a:ext>
            </a:extLst>
          </p:cNvPr>
          <p:cNvSpPr txBox="1"/>
          <p:nvPr/>
        </p:nvSpPr>
        <p:spPr>
          <a:xfrm>
            <a:off x="292754" y="1261872"/>
            <a:ext cx="9829614" cy="3077766"/>
          </a:xfrm>
          <a:prstGeom prst="rect">
            <a:avLst/>
          </a:prstGeom>
          <a:noFill/>
        </p:spPr>
        <p:txBody>
          <a:bodyPr wrap="none" rtlCol="0">
            <a:spAutoFit/>
          </a:bodyPr>
          <a:lstStyle/>
          <a:p>
            <a:pPr lvl="0"/>
            <a:r>
              <a:rPr lang="en-US" sz="1600" b="1" dirty="0">
                <a:latin typeface="Times New Roman" panose="02020603050405020304" pitchFamily="18" charset="0"/>
                <a:cs typeface="Times New Roman" panose="02020603050405020304" pitchFamily="18" charset="0"/>
              </a:rPr>
              <a:t>Section: </a:t>
            </a:r>
            <a:r>
              <a:rPr lang="en-US" sz="1600" dirty="0">
                <a:latin typeface="Times New Roman" panose="02020603050405020304" pitchFamily="18" charset="0"/>
                <a:cs typeface="Times New Roman" panose="02020603050405020304" pitchFamily="18" charset="0"/>
              </a:rPr>
              <a:t>Demand scaling with load multiplier</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Location: load_demand_data.jl:84</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Severity: Medium</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What changed: Demand matrix </a:t>
            </a:r>
            <a:r>
              <a:rPr lang="en-US" sz="1600" dirty="0" err="1">
                <a:latin typeface="Times New Roman" panose="02020603050405020304" pitchFamily="18" charset="0"/>
                <a:cs typeface="Times New Roman" panose="02020603050405020304" pitchFamily="18" charset="0"/>
              </a:rPr>
              <a:t>pD</a:t>
            </a:r>
            <a:r>
              <a:rPr lang="en-US" sz="1600" dirty="0">
                <a:latin typeface="Times New Roman" panose="02020603050405020304" pitchFamily="18" charset="0"/>
                <a:cs typeface="Times New Roman" panose="02020603050405020304" pitchFamily="18" charset="0"/>
              </a:rPr>
              <a:t> is now multiplied by setup </a:t>
            </a:r>
            <a:r>
              <a:rPr lang="en-US" sz="1600" dirty="0" err="1">
                <a:latin typeface="Times New Roman" panose="02020603050405020304" pitchFamily="18" charset="0"/>
                <a:cs typeface="Times New Roman" panose="02020603050405020304" pitchFamily="18" charset="0"/>
              </a:rPr>
              <a:t>load_multiplier</a:t>
            </a:r>
            <a:r>
              <a:rPr lang="en-US" sz="1600" dirty="0">
                <a:latin typeface="Times New Roman" panose="02020603050405020304" pitchFamily="18" charset="0"/>
                <a:cs typeface="Times New Roman" panose="02020603050405020304" pitchFamily="18" charset="0"/>
              </a:rPr>
              <a:t> after it is loaded.</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Impact: This directly changes demand levels used in optimization for all zones and times.</a:t>
            </a:r>
          </a:p>
          <a:p>
            <a:pPr lvl="0"/>
            <a:endParaRPr lang="en-US"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Section: </a:t>
            </a:r>
            <a:r>
              <a:rPr lang="en-US" sz="1600" dirty="0">
                <a:latin typeface="Times New Roman" panose="02020603050405020304" pitchFamily="18" charset="0"/>
                <a:cs typeface="Times New Roman" panose="02020603050405020304" pitchFamily="18" charset="0"/>
              </a:rPr>
              <a:t>New DEMAND parameter tracking table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Location: load_demand_data.jl:86-90</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Severity: Low</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What changed: Adds inputs DEMAND </a:t>
            </a:r>
            <a:r>
              <a:rPr lang="en-US" sz="1600" dirty="0" err="1">
                <a:latin typeface="Times New Roman" panose="02020603050405020304" pitchFamily="18" charset="0"/>
                <a:cs typeface="Times New Roman" panose="02020603050405020304" pitchFamily="18" charset="0"/>
              </a:rPr>
              <a:t>DataFrame</a:t>
            </a:r>
            <a:r>
              <a:rPr lang="en-US" sz="1600" dirty="0">
                <a:latin typeface="Times New Roman" panose="02020603050405020304" pitchFamily="18" charset="0"/>
                <a:cs typeface="Times New Roman" panose="02020603050405020304" pitchFamily="18" charset="0"/>
              </a:rPr>
              <a:t> with zone, </a:t>
            </a:r>
            <a:r>
              <a:rPr lang="en-US" sz="1600" dirty="0" err="1">
                <a:latin typeface="Times New Roman" panose="02020603050405020304" pitchFamily="18" charset="0"/>
                <a:cs typeface="Times New Roman" panose="02020603050405020304" pitchFamily="18" charset="0"/>
              </a:rPr>
              <a:t>load_multiplier</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load_multiplier_eligible</a:t>
            </a:r>
            <a:r>
              <a:rPr lang="en-US" sz="1600" dirty="0">
                <a:latin typeface="Times New Roman" panose="02020603050405020304" pitchFamily="18" charset="0"/>
                <a:cs typeface="Times New Roman" panose="02020603050405020304" pitchFamily="18" charset="0"/>
              </a:rPr>
              <a:t> columns.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Impact: Mostly metadata/traceability; useful for uncertainty/screening reporting.</a:t>
            </a:r>
          </a:p>
          <a:p>
            <a:pPr lvl="0"/>
            <a:endParaRPr lang="en-US" dirty="0"/>
          </a:p>
        </p:txBody>
      </p:sp>
    </p:spTree>
    <p:extLst>
      <p:ext uri="{BB962C8B-B14F-4D97-AF65-F5344CB8AC3E}">
        <p14:creationId xmlns:p14="http://schemas.microsoft.com/office/powerpoint/2010/main" val="159689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46D16-2FA3-8788-3ACE-295A7F5461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40D2BCE-124B-0FE7-198C-05D0295D2038}"/>
              </a:ext>
            </a:extLst>
          </p:cNvPr>
          <p:cNvSpPr/>
          <p:nvPr/>
        </p:nvSpPr>
        <p:spPr>
          <a:xfrm>
            <a:off x="0" y="0"/>
            <a:ext cx="12191695" cy="1024128"/>
          </a:xfrm>
          <a:prstGeom prst="rect">
            <a:avLst/>
          </a:prstGeom>
          <a:solidFill>
            <a:schemeClr val="accent6"/>
          </a:solidFill>
          <a:ln>
            <a:solidFill>
              <a:srgbClr val="142B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1C2B4702-4687-66C9-BD1F-B6A5E1932A52}"/>
              </a:ext>
            </a:extLst>
          </p:cNvPr>
          <p:cNvSpPr txBox="1"/>
          <p:nvPr/>
        </p:nvSpPr>
        <p:spPr>
          <a:xfrm>
            <a:off x="380847" y="1368623"/>
            <a:ext cx="11430000" cy="4524315"/>
          </a:xfrm>
          <a:prstGeom prst="rect">
            <a:avLst/>
          </a:prstGeom>
          <a:noFill/>
        </p:spPr>
        <p:txBody>
          <a:bodyPr wrap="square" rtlCol="0">
            <a:spAutoFit/>
          </a:bodyPr>
          <a:lstStyle/>
          <a:p>
            <a:pPr lvl="0"/>
            <a:r>
              <a:rPr lang="en-US" sz="1600" b="1" dirty="0">
                <a:latin typeface="Times New Roman" panose="02020603050405020304" pitchFamily="18" charset="0"/>
                <a:cs typeface="Times New Roman" panose="02020603050405020304" pitchFamily="18" charset="0"/>
              </a:rPr>
              <a:t>Section: </a:t>
            </a:r>
            <a:r>
              <a:rPr lang="en-US" sz="1600" dirty="0">
                <a:latin typeface="Times New Roman" panose="02020603050405020304" pitchFamily="18" charset="0"/>
                <a:cs typeface="Times New Roman" panose="02020603050405020304" pitchFamily="18" charset="0"/>
              </a:rPr>
              <a:t>Fuel cost calculation now includes multiplier</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Location: load_fuels_data.jl:34</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Severity: Medium</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What changed: </a:t>
            </a:r>
            <a:r>
              <a:rPr lang="en-US" sz="1600" dirty="0" err="1">
                <a:latin typeface="Times New Roman" panose="02020603050405020304" pitchFamily="18" charset="0"/>
                <a:cs typeface="Times New Roman" panose="02020603050405020304" pitchFamily="18" charset="0"/>
              </a:rPr>
              <a:t>fuel_cost_vec</a:t>
            </a:r>
            <a:r>
              <a:rPr lang="en-US" sz="1600" dirty="0">
                <a:latin typeface="Times New Roman" panose="02020603050405020304" pitchFamily="18" charset="0"/>
                <a:cs typeface="Times New Roman" panose="02020603050405020304" pitchFamily="18" charset="0"/>
              </a:rPr>
              <a:t> now multiplies base fuel costs by setup </a:t>
            </a:r>
            <a:r>
              <a:rPr lang="en-US" sz="1600" dirty="0" err="1">
                <a:latin typeface="Times New Roman" panose="02020603050405020304" pitchFamily="18" charset="0"/>
                <a:cs typeface="Times New Roman" panose="02020603050405020304" pitchFamily="18" charset="0"/>
              </a:rPr>
              <a:t>fuel_price_multiplier</a:t>
            </a:r>
            <a:r>
              <a:rPr lang="en-US" sz="1600" dirty="0">
                <a:latin typeface="Times New Roman" panose="02020603050405020304" pitchFamily="18" charset="0"/>
                <a:cs typeface="Times New Roman" panose="02020603050405020304" pitchFamily="18" charset="0"/>
              </a:rPr>
              <a:t> before storing.</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Impact: Changes all modeled fuel prices and therefore production dispatch/system cost.</a:t>
            </a:r>
          </a:p>
          <a:p>
            <a:pPr lvl="0"/>
            <a:endParaRPr lang="en-US"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Section: </a:t>
            </a:r>
            <a:r>
              <a:rPr lang="en-US" sz="1600" dirty="0">
                <a:latin typeface="Times New Roman" panose="02020603050405020304" pitchFamily="18" charset="0"/>
                <a:cs typeface="Times New Roman" panose="02020603050405020304" pitchFamily="18" charset="0"/>
              </a:rPr>
              <a:t>Hydrogen key aliasing for case tolerance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Location: load_fuels_data.jl:41-46</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Severity: Low</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What changed: Adds dictionary aliases for hydrogen, Hydrogen, and lowercase handling.</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Impact: Reduces risk of case-mismatch lookup issues; minor behavioral expansion.</a:t>
            </a:r>
          </a:p>
          <a:p>
            <a:pPr lvl="0"/>
            <a:endParaRPr lang="en-US"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Section: </a:t>
            </a:r>
            <a:r>
              <a:rPr lang="en-US" sz="1600" dirty="0">
                <a:latin typeface="Times New Roman" panose="02020603050405020304" pitchFamily="18" charset="0"/>
                <a:cs typeface="Times New Roman" panose="02020603050405020304" pitchFamily="18" charset="0"/>
              </a:rPr>
              <a:t>New FUELS parameter table and None exemption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Location: load_fuels_data.jl:55-63</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Severity: Low</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What changed: Adds inputs FUELS </a:t>
            </a:r>
            <a:r>
              <a:rPr lang="en-US" sz="1600" dirty="0" err="1">
                <a:latin typeface="Times New Roman" panose="02020603050405020304" pitchFamily="18" charset="0"/>
                <a:cs typeface="Times New Roman" panose="02020603050405020304" pitchFamily="18" charset="0"/>
              </a:rPr>
              <a:t>DataFrame</a:t>
            </a:r>
            <a:r>
              <a:rPr lang="en-US" sz="1600" dirty="0">
                <a:latin typeface="Times New Roman" panose="02020603050405020304" pitchFamily="18" charset="0"/>
                <a:cs typeface="Times New Roman" panose="02020603050405020304" pitchFamily="18" charset="0"/>
              </a:rPr>
              <a:t> with </a:t>
            </a:r>
            <a:r>
              <a:rPr lang="en-US" sz="1600" dirty="0" err="1">
                <a:latin typeface="Times New Roman" panose="02020603050405020304" pitchFamily="18" charset="0"/>
                <a:cs typeface="Times New Roman" panose="02020603050405020304" pitchFamily="18" charset="0"/>
              </a:rPr>
              <a:t>fuel_price_multiplier</a:t>
            </a:r>
            <a:r>
              <a:rPr lang="en-US" sz="1600" dirty="0">
                <a:latin typeface="Times New Roman" panose="02020603050405020304" pitchFamily="18" charset="0"/>
                <a:cs typeface="Times New Roman" panose="02020603050405020304" pitchFamily="18" charset="0"/>
              </a:rPr>
              <a:t> and eligibility flags; </a:t>
            </a:r>
          </a:p>
          <a:p>
            <a:pPr lvl="0"/>
            <a:r>
              <a:rPr lang="en-US" sz="1600" dirty="0">
                <a:latin typeface="Times New Roman" panose="02020603050405020304" pitchFamily="18" charset="0"/>
                <a:cs typeface="Times New Roman" panose="02020603050405020304" pitchFamily="18" charset="0"/>
              </a:rPr>
              <a:t>			 Sets None fuel eligibility false and multiplier to 1.0.</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Impact: Adds bookkeeping/eligibility control for uncertainty workflows.</a:t>
            </a:r>
          </a:p>
        </p:txBody>
      </p:sp>
      <p:sp>
        <p:nvSpPr>
          <p:cNvPr id="7" name="TextBox 6">
            <a:extLst>
              <a:ext uri="{FF2B5EF4-FFF2-40B4-BE49-F238E27FC236}">
                <a16:creationId xmlns:a16="http://schemas.microsoft.com/office/drawing/2014/main" id="{53D9BEAC-A570-BA8C-F581-71A6D2C5C998}"/>
              </a:ext>
            </a:extLst>
          </p:cNvPr>
          <p:cNvSpPr txBox="1"/>
          <p:nvPr/>
        </p:nvSpPr>
        <p:spPr>
          <a:xfrm>
            <a:off x="380847" y="237744"/>
            <a:ext cx="3310128" cy="480131"/>
          </a:xfrm>
          <a:prstGeom prst="rect">
            <a:avLst/>
          </a:prstGeom>
          <a:noFill/>
        </p:spPr>
        <p:txBody>
          <a:bodyPr wrap="square" lIns="54864" tIns="54864" rIns="54864" bIns="54864">
            <a:spAutoFit/>
          </a:bodyPr>
          <a:lstStyle/>
          <a:p>
            <a:pPr algn="l"/>
            <a:r>
              <a:rPr sz="2400" b="1" dirty="0" err="1">
                <a:solidFill>
                  <a:srgbClr val="FFFFFF"/>
                </a:solidFill>
                <a:latin typeface="Times New Roman" panose="02020603050405020304" pitchFamily="18" charset="0"/>
                <a:cs typeface="Times New Roman" panose="02020603050405020304" pitchFamily="18" charset="0"/>
              </a:rPr>
              <a:t>load_fuels_data.jl</a:t>
            </a:r>
            <a:endParaRPr sz="2400" b="1"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56054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FDE07-DD4D-1999-A832-AEC60B115AB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190A9A1-CA93-1408-6F2A-D146BDD979F2}"/>
              </a:ext>
            </a:extLst>
          </p:cNvPr>
          <p:cNvSpPr/>
          <p:nvPr/>
        </p:nvSpPr>
        <p:spPr>
          <a:xfrm>
            <a:off x="0" y="0"/>
            <a:ext cx="12191695" cy="1024128"/>
          </a:xfrm>
          <a:prstGeom prst="rect">
            <a:avLst/>
          </a:prstGeom>
          <a:solidFill>
            <a:srgbClr val="C00000"/>
          </a:solidFill>
          <a:ln>
            <a:solidFill>
              <a:srgbClr val="142B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28DA89E1-650E-E6B1-AFCB-C472A8664832}"/>
              </a:ext>
            </a:extLst>
          </p:cNvPr>
          <p:cNvSpPr txBox="1"/>
          <p:nvPr/>
        </p:nvSpPr>
        <p:spPr>
          <a:xfrm>
            <a:off x="308283" y="271998"/>
            <a:ext cx="3310128" cy="480131"/>
          </a:xfrm>
          <a:prstGeom prst="rect">
            <a:avLst/>
          </a:prstGeom>
          <a:noFill/>
        </p:spPr>
        <p:txBody>
          <a:bodyPr wrap="square" lIns="54864" tIns="54864" rIns="54864" bIns="54864">
            <a:spAutoFit/>
          </a:bodyPr>
          <a:lstStyle/>
          <a:p>
            <a:pPr algn="l"/>
            <a:r>
              <a:rPr sz="2400" b="1" dirty="0" err="1">
                <a:solidFill>
                  <a:srgbClr val="FFFFFF"/>
                </a:solidFill>
                <a:latin typeface="Times New Roman" panose="02020603050405020304" pitchFamily="18" charset="0"/>
                <a:cs typeface="Times New Roman" panose="02020603050405020304" pitchFamily="18" charset="0"/>
              </a:rPr>
              <a:t>load_resources_data.jl</a:t>
            </a:r>
            <a:endParaRPr sz="2400" b="1" dirty="0">
              <a:solidFill>
                <a:srgbClr val="FFFFFF"/>
              </a:solidFill>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83A7397A-85A4-C53C-AC3C-CF8454B96E4C}"/>
              </a:ext>
            </a:extLst>
          </p:cNvPr>
          <p:cNvSpPr txBox="1"/>
          <p:nvPr/>
        </p:nvSpPr>
        <p:spPr>
          <a:xfrm>
            <a:off x="192170" y="1261872"/>
            <a:ext cx="10003829" cy="4585871"/>
          </a:xfrm>
          <a:prstGeom prst="rect">
            <a:avLst/>
          </a:prstGeom>
          <a:noFill/>
        </p:spPr>
        <p:txBody>
          <a:bodyPr wrap="none" rtlCol="0">
            <a:spAutoFit/>
          </a:bodyPr>
          <a:lstStyle/>
          <a:p>
            <a:pPr lvl="0"/>
            <a:r>
              <a:rPr lang="en-US" sz="1600" b="1" dirty="0">
                <a:latin typeface="Times New Roman" panose="02020603050405020304" pitchFamily="18" charset="0"/>
                <a:cs typeface="Times New Roman" panose="02020603050405020304" pitchFamily="18" charset="0"/>
              </a:rPr>
              <a:t>Section: </a:t>
            </a:r>
            <a:r>
              <a:rPr lang="en-US" sz="1600" dirty="0">
                <a:latin typeface="Times New Roman" panose="02020603050405020304" pitchFamily="18" charset="0"/>
                <a:cs typeface="Times New Roman" panose="02020603050405020304" pitchFamily="18" charset="0"/>
              </a:rPr>
              <a:t>New screening engine function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Location: load_resources_data.jl:412-580</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Severity: High</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What changed: Introduced </a:t>
            </a:r>
            <a:r>
              <a:rPr lang="en-US" sz="1600" dirty="0" err="1">
                <a:latin typeface="Times New Roman" panose="02020603050405020304" pitchFamily="18" charset="0"/>
                <a:cs typeface="Times New Roman" panose="02020603050405020304" pitchFamily="18" charset="0"/>
              </a:rPr>
              <a:t>apply_screening_parameters</a:t>
            </a:r>
            <a:r>
              <a:rPr lang="en-US" sz="1600" dirty="0">
                <a:latin typeface="Times New Roman" panose="02020603050405020304" pitchFamily="18" charset="0"/>
                <a:cs typeface="Times New Roman" panose="02020603050405020304" pitchFamily="18" charset="0"/>
              </a:rPr>
              <a:t>! that:</a:t>
            </a:r>
          </a:p>
          <a:p>
            <a:pPr lvl="1"/>
            <a:r>
              <a:rPr lang="en-US" sz="1600" dirty="0">
                <a:latin typeface="Times New Roman" panose="02020603050405020304" pitchFamily="18" charset="0"/>
                <a:cs typeface="Times New Roman" panose="02020603050405020304" pitchFamily="18" charset="0"/>
              </a:rPr>
              <a:t>Added new parameter columns and corresponding eligible flags.</a:t>
            </a:r>
          </a:p>
          <a:p>
            <a:pPr lvl="1"/>
            <a:r>
              <a:rPr lang="en-US" sz="1600" dirty="0">
                <a:latin typeface="Times New Roman" panose="02020603050405020304" pitchFamily="18" charset="0"/>
                <a:cs typeface="Times New Roman" panose="02020603050405020304" pitchFamily="18" charset="0"/>
              </a:rPr>
              <a:t>Matched </a:t>
            </a:r>
            <a:r>
              <a:rPr lang="en-US" sz="1600" dirty="0" err="1">
                <a:latin typeface="Times New Roman" panose="02020603050405020304" pitchFamily="18" charset="0"/>
                <a:cs typeface="Times New Roman" panose="02020603050405020304" pitchFamily="18" charset="0"/>
              </a:rPr>
              <a:t>resource_type</a:t>
            </a:r>
            <a:r>
              <a:rPr lang="en-US" sz="1600" dirty="0">
                <a:latin typeface="Times New Roman" panose="02020603050405020304" pitchFamily="18" charset="0"/>
                <a:cs typeface="Times New Roman" panose="02020603050405020304" pitchFamily="18" charset="0"/>
              </a:rPr>
              <a:t> rows (case-insensitive exact/prefix logic).</a:t>
            </a:r>
          </a:p>
          <a:p>
            <a:pPr lvl="1"/>
            <a:r>
              <a:rPr lang="en-US" sz="1600" dirty="0">
                <a:latin typeface="Times New Roman" panose="02020603050405020304" pitchFamily="18" charset="0"/>
                <a:cs typeface="Times New Roman" panose="02020603050405020304" pitchFamily="18" charset="0"/>
              </a:rPr>
              <a:t>Applied multiple setup-driven multipliers and binary switches across resource classes.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Impact: Major preprocessing behavior change affecting capacities, investment costs, retire/new build flags, </a:t>
            </a:r>
          </a:p>
          <a:p>
            <a:pPr lvl="1"/>
            <a:r>
              <a:rPr lang="en-US" sz="1600" dirty="0">
                <a:latin typeface="Times New Roman" panose="02020603050405020304" pitchFamily="18" charset="0"/>
                <a:cs typeface="Times New Roman" panose="02020603050405020304" pitchFamily="18" charset="0"/>
              </a:rPr>
              <a:t>and flexible demand values.</a:t>
            </a:r>
          </a:p>
          <a:p>
            <a:pPr lvl="0"/>
            <a:endParaRPr lang="en-US"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Section: </a:t>
            </a:r>
            <a:r>
              <a:rPr lang="en-US" sz="1600" dirty="0">
                <a:latin typeface="Times New Roman" panose="02020603050405020304" pitchFamily="18" charset="0"/>
                <a:cs typeface="Times New Roman" panose="02020603050405020304" pitchFamily="18" charset="0"/>
              </a:rPr>
              <a:t>Thermal screening controls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Location: load_resources_data.jl:461-478</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Severity: Medium</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What changed: </a:t>
            </a:r>
            <a:r>
              <a:rPr lang="en-US" sz="1600" dirty="0" err="1">
                <a:latin typeface="Times New Roman" panose="02020603050405020304" pitchFamily="18" charset="0"/>
                <a:cs typeface="Times New Roman" panose="02020603050405020304" pitchFamily="18" charset="0"/>
              </a:rPr>
              <a:t>Gas_Retirement</a:t>
            </a:r>
            <a:r>
              <a:rPr lang="en-US" sz="1600" dirty="0">
                <a:latin typeface="Times New Roman" panose="02020603050405020304" pitchFamily="18" charset="0"/>
                <a:cs typeface="Times New Roman" panose="02020603050405020304" pitchFamily="18" charset="0"/>
              </a:rPr>
              <a:t> can overwrite </a:t>
            </a:r>
            <a:r>
              <a:rPr lang="en-US" sz="1600" dirty="0" err="1">
                <a:latin typeface="Times New Roman" panose="02020603050405020304" pitchFamily="18" charset="0"/>
                <a:cs typeface="Times New Roman" panose="02020603050405020304" pitchFamily="18" charset="0"/>
              </a:rPr>
              <a:t>can_retire</a:t>
            </a:r>
            <a:r>
              <a:rPr lang="en-US" sz="1600" dirty="0">
                <a:latin typeface="Times New Roman" panose="02020603050405020304" pitchFamily="18" charset="0"/>
                <a:cs typeface="Times New Roman" panose="02020603050405020304" pitchFamily="18" charset="0"/>
              </a:rPr>
              <a:t> for </a:t>
            </a:r>
            <a:r>
              <a:rPr lang="en-US" sz="1600" dirty="0" err="1">
                <a:latin typeface="Times New Roman" panose="02020603050405020304" pitchFamily="18" charset="0"/>
                <a:cs typeface="Times New Roman" panose="02020603050405020304" pitchFamily="18" charset="0"/>
              </a:rPr>
              <a:t>Existing_natural_gas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Nuclear_Availability</a:t>
            </a:r>
            <a:r>
              <a:rPr lang="en-US" sz="1600" dirty="0">
                <a:latin typeface="Times New Roman" panose="02020603050405020304" pitchFamily="18" charset="0"/>
                <a:cs typeface="Times New Roman" panose="02020603050405020304" pitchFamily="18" charset="0"/>
              </a:rPr>
              <a:t> can overwrite </a:t>
            </a:r>
          </a:p>
          <a:p>
            <a:pPr lvl="0"/>
            <a:r>
              <a:rPr lang="en-US" sz="1600" dirty="0" err="1">
                <a:latin typeface="Times New Roman" panose="02020603050405020304" pitchFamily="18" charset="0"/>
                <a:cs typeface="Times New Roman" panose="02020603050405020304" pitchFamily="18" charset="0"/>
              </a:rPr>
              <a:t>new_build</a:t>
            </a:r>
            <a:r>
              <a:rPr lang="en-US" sz="1600" dirty="0">
                <a:latin typeface="Times New Roman" panose="02020603050405020304" pitchFamily="18" charset="0"/>
                <a:cs typeface="Times New Roman" panose="02020603050405020304" pitchFamily="18" charset="0"/>
              </a:rPr>
              <a:t> for new nuclear rows.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Impact: Directly changed build/retirement feasibility assumptions.</a:t>
            </a:r>
          </a:p>
          <a:p>
            <a:pPr lvl="0"/>
            <a:endParaRPr lang="en-US" dirty="0"/>
          </a:p>
          <a:p>
            <a:pPr lvl="0"/>
            <a:endParaRPr lang="en-US" dirty="0"/>
          </a:p>
        </p:txBody>
      </p:sp>
    </p:spTree>
    <p:extLst>
      <p:ext uri="{BB962C8B-B14F-4D97-AF65-F5344CB8AC3E}">
        <p14:creationId xmlns:p14="http://schemas.microsoft.com/office/powerpoint/2010/main" val="3776697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46BED-A831-79F6-5D64-AE9F76DB81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C389E48-4C15-3B66-B91C-5C98DF901899}"/>
              </a:ext>
            </a:extLst>
          </p:cNvPr>
          <p:cNvSpPr/>
          <p:nvPr/>
        </p:nvSpPr>
        <p:spPr>
          <a:xfrm>
            <a:off x="0" y="0"/>
            <a:ext cx="12191695" cy="1024128"/>
          </a:xfrm>
          <a:prstGeom prst="rect">
            <a:avLst/>
          </a:prstGeom>
          <a:solidFill>
            <a:srgbClr val="C00000"/>
          </a:solidFill>
          <a:ln>
            <a:solidFill>
              <a:srgbClr val="142B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D8FE28F2-34EB-14AE-7CB7-755A7DE1DF29}"/>
              </a:ext>
            </a:extLst>
          </p:cNvPr>
          <p:cNvSpPr txBox="1"/>
          <p:nvPr/>
        </p:nvSpPr>
        <p:spPr>
          <a:xfrm>
            <a:off x="438912" y="237744"/>
            <a:ext cx="3310128" cy="480131"/>
          </a:xfrm>
          <a:prstGeom prst="rect">
            <a:avLst/>
          </a:prstGeom>
          <a:noFill/>
        </p:spPr>
        <p:txBody>
          <a:bodyPr wrap="square" lIns="54864" tIns="54864" rIns="54864" bIns="54864">
            <a:spAutoFit/>
          </a:bodyPr>
          <a:lstStyle/>
          <a:p>
            <a:pPr algn="l"/>
            <a:r>
              <a:rPr sz="2400" b="1" dirty="0" err="1">
                <a:solidFill>
                  <a:srgbClr val="FFFFFF"/>
                </a:solidFill>
                <a:latin typeface="Times New Roman" panose="02020603050405020304" pitchFamily="18" charset="0"/>
                <a:cs typeface="Times New Roman" panose="02020603050405020304" pitchFamily="18" charset="0"/>
              </a:rPr>
              <a:t>load_resources_data.jl</a:t>
            </a:r>
            <a:endParaRPr sz="2400" b="1" dirty="0">
              <a:solidFill>
                <a:srgbClr val="FFFFFF"/>
              </a:solidFill>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5394DDC9-BCE5-5670-4350-D61B1F155D07}"/>
              </a:ext>
            </a:extLst>
          </p:cNvPr>
          <p:cNvSpPr txBox="1"/>
          <p:nvPr/>
        </p:nvSpPr>
        <p:spPr>
          <a:xfrm>
            <a:off x="303504" y="948690"/>
            <a:ext cx="10635091" cy="5293757"/>
          </a:xfrm>
          <a:prstGeom prst="rect">
            <a:avLst/>
          </a:prstGeom>
          <a:noFill/>
        </p:spPr>
        <p:txBody>
          <a:bodyPr wrap="none" rtlCol="0">
            <a:spAutoFit/>
          </a:bodyPr>
          <a:lstStyle/>
          <a:p>
            <a:pPr lvl="0"/>
            <a:endParaRPr lang="en-US"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Section: </a:t>
            </a:r>
            <a:r>
              <a:rPr lang="en-US" sz="1600" dirty="0">
                <a:latin typeface="Times New Roman" panose="02020603050405020304" pitchFamily="18" charset="0"/>
                <a:cs typeface="Times New Roman" panose="02020603050405020304" pitchFamily="18" charset="0"/>
              </a:rPr>
              <a:t>VRE and Storage cost multipliers including IRA logic</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Location: load_resources_data.jl:481-564</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Severity: High</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What changed: Applies </a:t>
            </a:r>
            <a:r>
              <a:rPr lang="en-US" sz="1600" dirty="0" err="1">
                <a:latin typeface="Times New Roman" panose="02020603050405020304" pitchFamily="18" charset="0"/>
                <a:cs typeface="Times New Roman" panose="02020603050405020304" pitchFamily="18" charset="0"/>
              </a:rPr>
              <a:t>IRA_InvCost_Multiplier</a:t>
            </a:r>
            <a:r>
              <a:rPr lang="en-US" sz="1600" dirty="0">
                <a:latin typeface="Times New Roman" panose="02020603050405020304" pitchFamily="18" charset="0"/>
                <a:cs typeface="Times New Roman" panose="02020603050405020304" pitchFamily="18" charset="0"/>
              </a:rPr>
              <a:t> conditionally, plus technology-specific multipliers for solar/offshore/onshore </a:t>
            </a:r>
          </a:p>
          <a:p>
            <a:pPr lvl="0"/>
            <a:r>
              <a:rPr lang="en-US" sz="1600" dirty="0">
                <a:latin typeface="Times New Roman" panose="02020603050405020304" pitchFamily="18" charset="0"/>
                <a:cs typeface="Times New Roman" panose="02020603050405020304" pitchFamily="18" charset="0"/>
              </a:rPr>
              <a:t>wind and batteries; can also scale VRE </a:t>
            </a:r>
            <a:r>
              <a:rPr lang="en-US" sz="1600" dirty="0" err="1">
                <a:latin typeface="Times New Roman" panose="02020603050405020304" pitchFamily="18" charset="0"/>
                <a:cs typeface="Times New Roman" panose="02020603050405020304" pitchFamily="18" charset="0"/>
              </a:rPr>
              <a:t>max_cap_mw</a:t>
            </a:r>
            <a:r>
              <a:rPr lang="en-US" sz="1600" dirty="0">
                <a:latin typeface="Times New Roman" panose="02020603050405020304" pitchFamily="18" charset="0"/>
                <a:cs typeface="Times New Roman" panose="02020603050405020304" pitchFamily="18" charset="0"/>
              </a:rPr>
              <a:t> via </a:t>
            </a:r>
            <a:r>
              <a:rPr lang="en-US" sz="1600" dirty="0" err="1">
                <a:latin typeface="Times New Roman" panose="02020603050405020304" pitchFamily="18" charset="0"/>
                <a:cs typeface="Times New Roman" panose="02020603050405020304" pitchFamily="18" charset="0"/>
              </a:rPr>
              <a:t>Siting_MaxCap_Multiplier</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Impact: Large impact on investment economics and expansion outcomes.</a:t>
            </a:r>
          </a:p>
          <a:p>
            <a:pPr lvl="0"/>
            <a:endParaRPr lang="en-US"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Section: </a:t>
            </a:r>
            <a:r>
              <a:rPr lang="en-US" sz="1600" dirty="0">
                <a:latin typeface="Times New Roman" panose="02020603050405020304" pitchFamily="18" charset="0"/>
                <a:cs typeface="Times New Roman" panose="02020603050405020304" pitchFamily="18" charset="0"/>
              </a:rPr>
              <a:t>Flexible demand capacity multiplier</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Location: load_resources_data.jl:566-577</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Severity: Medium</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What changed: </a:t>
            </a:r>
            <a:r>
              <a:rPr lang="en-US" sz="1600" dirty="0" err="1">
                <a:latin typeface="Times New Roman" panose="02020603050405020304" pitchFamily="18" charset="0"/>
                <a:cs typeface="Times New Roman" panose="02020603050405020304" pitchFamily="18" charset="0"/>
              </a:rPr>
              <a:t>Demand_Flexibility_Multiplier</a:t>
            </a:r>
            <a:r>
              <a:rPr lang="en-US" sz="1600" dirty="0">
                <a:latin typeface="Times New Roman" panose="02020603050405020304" pitchFamily="18" charset="0"/>
                <a:cs typeface="Times New Roman" panose="02020603050405020304" pitchFamily="18" charset="0"/>
              </a:rPr>
              <a:t> scales </a:t>
            </a:r>
            <a:r>
              <a:rPr lang="en-US" sz="1600" dirty="0" err="1">
                <a:latin typeface="Times New Roman" panose="02020603050405020304" pitchFamily="18" charset="0"/>
                <a:cs typeface="Times New Roman" panose="02020603050405020304" pitchFamily="18" charset="0"/>
              </a:rPr>
              <a:t>existing_cap_mw</a:t>
            </a:r>
            <a:r>
              <a:rPr lang="en-US" sz="1600" dirty="0">
                <a:latin typeface="Times New Roman" panose="02020603050405020304" pitchFamily="18" charset="0"/>
                <a:cs typeface="Times New Roman" panose="02020603050405020304" pitchFamily="18" charset="0"/>
              </a:rPr>
              <a:t> for </a:t>
            </a:r>
            <a:r>
              <a:rPr lang="en-US" sz="1600" dirty="0" err="1">
                <a:latin typeface="Times New Roman" panose="02020603050405020304" pitchFamily="18" charset="0"/>
                <a:cs typeface="Times New Roman" panose="02020603050405020304" pitchFamily="18" charset="0"/>
              </a:rPr>
              <a:t>FlexDemand</a:t>
            </a:r>
            <a:r>
              <a:rPr lang="en-US" sz="1600" dirty="0">
                <a:latin typeface="Times New Roman" panose="02020603050405020304" pitchFamily="18" charset="0"/>
                <a:cs typeface="Times New Roman" panose="02020603050405020304" pitchFamily="18" charset="0"/>
              </a:rPr>
              <a:t> resources when present.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Impact: Alters available flexible demand capacity.</a:t>
            </a:r>
          </a:p>
          <a:p>
            <a:pPr lvl="0"/>
            <a:endParaRPr lang="en-US"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Section: </a:t>
            </a:r>
            <a:r>
              <a:rPr lang="en-US" sz="1600" dirty="0">
                <a:latin typeface="Times New Roman" panose="02020603050405020304" pitchFamily="18" charset="0"/>
                <a:cs typeface="Times New Roman" panose="02020603050405020304" pitchFamily="18" charset="0"/>
              </a:rPr>
              <a:t>Resource loading pipeline changed to apply screening before resource object creation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Location: load_resources_data.jl:588-617, load_resources_data.jl:894</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Severity: High</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What changed: New </a:t>
            </a:r>
            <a:r>
              <a:rPr lang="en-US" sz="1600" dirty="0" err="1">
                <a:latin typeface="Times New Roman" panose="02020603050405020304" pitchFamily="18" charset="0"/>
                <a:cs typeface="Times New Roman" panose="02020603050405020304" pitchFamily="18" charset="0"/>
              </a:rPr>
              <a:t>load_and_screen_resources</a:t>
            </a:r>
            <a:r>
              <a:rPr lang="en-US" sz="1600" dirty="0">
                <a:latin typeface="Times New Roman" panose="02020603050405020304" pitchFamily="18" charset="0"/>
                <a:cs typeface="Times New Roman" panose="02020603050405020304" pitchFamily="18" charset="0"/>
              </a:rPr>
              <a:t> function is introduced and called from </a:t>
            </a:r>
          </a:p>
          <a:p>
            <a:pPr lvl="0"/>
            <a:r>
              <a:rPr lang="en-US" sz="1600" dirty="0" err="1">
                <a:latin typeface="Times New Roman" panose="02020603050405020304" pitchFamily="18" charset="0"/>
                <a:cs typeface="Times New Roman" panose="02020603050405020304" pitchFamily="18" charset="0"/>
              </a:rPr>
              <a:t>create_resource_array</a:t>
            </a:r>
            <a:r>
              <a:rPr lang="en-US" sz="1600" dirty="0">
                <a:latin typeface="Times New Roman" panose="02020603050405020304" pitchFamily="18" charset="0"/>
                <a:cs typeface="Times New Roman" panose="02020603050405020304" pitchFamily="18" charset="0"/>
              </a:rPr>
              <a:t> (setup, </a:t>
            </a:r>
            <a:r>
              <a:rPr lang="en-US" sz="1600" dirty="0" err="1">
                <a:latin typeface="Times New Roman" panose="02020603050405020304" pitchFamily="18" charset="0"/>
                <a:cs typeface="Times New Roman" panose="02020603050405020304" pitchFamily="18" charset="0"/>
              </a:rPr>
              <a:t>resources_path</a:t>
            </a:r>
            <a:r>
              <a:rPr lang="en-US" sz="1600" dirty="0">
                <a:latin typeface="Times New Roman" panose="02020603050405020304" pitchFamily="18" charset="0"/>
                <a:cs typeface="Times New Roman" panose="02020603050405020304" pitchFamily="18" charset="0"/>
              </a:rPr>
              <a:t>), ensuring screening edits happen before resources are instantiated/validated.</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Impact: Structural change in data flow; screening now systematically affects all downstream model inputs.</a:t>
            </a:r>
          </a:p>
          <a:p>
            <a:pPr lvl="0"/>
            <a:endParaRPr lang="en-US" dirty="0"/>
          </a:p>
        </p:txBody>
      </p:sp>
    </p:spTree>
    <p:extLst>
      <p:ext uri="{BB962C8B-B14F-4D97-AF65-F5344CB8AC3E}">
        <p14:creationId xmlns:p14="http://schemas.microsoft.com/office/powerpoint/2010/main" val="2664122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2A004-4C16-5FAE-E51F-94524A1EF4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7432ED-63C9-9224-D4EB-C38F604AC48C}"/>
              </a:ext>
            </a:extLst>
          </p:cNvPr>
          <p:cNvSpPr txBox="1"/>
          <p:nvPr/>
        </p:nvSpPr>
        <p:spPr>
          <a:xfrm>
            <a:off x="566928" y="256032"/>
            <a:ext cx="10972800" cy="486287"/>
          </a:xfrm>
          <a:prstGeom prst="rect">
            <a:avLst/>
          </a:prstGeom>
          <a:noFill/>
        </p:spPr>
        <p:txBody>
          <a:bodyPr wrap="square" lIns="54864" tIns="27432" rIns="54864" bIns="27432">
            <a:spAutoFit/>
          </a:bodyPr>
          <a:lstStyle/>
          <a:p>
            <a:pPr>
              <a:buNone/>
            </a:pPr>
            <a:r>
              <a:rPr lang="en-US" sz="2600" b="1" dirty="0">
                <a:solidFill>
                  <a:srgbClr val="162A46"/>
                </a:solidFill>
                <a:latin typeface="Aptos"/>
              </a:rPr>
              <a:t>13</a:t>
            </a:r>
            <a:r>
              <a:rPr sz="2600" b="1" dirty="0">
                <a:solidFill>
                  <a:srgbClr val="162A46"/>
                </a:solidFill>
                <a:latin typeface="Aptos"/>
              </a:rPr>
              <a:t>. </a:t>
            </a:r>
            <a:r>
              <a:rPr lang="en-US" sz="2800" b="1" dirty="0"/>
              <a:t>GenX Settings Configuration</a:t>
            </a:r>
          </a:p>
        </p:txBody>
      </p:sp>
      <p:sp>
        <p:nvSpPr>
          <p:cNvPr id="3" name="TextBox 2">
            <a:extLst>
              <a:ext uri="{FF2B5EF4-FFF2-40B4-BE49-F238E27FC236}">
                <a16:creationId xmlns:a16="http://schemas.microsoft.com/office/drawing/2014/main" id="{61E30664-AF07-CE5D-8729-003E23BF9E8E}"/>
              </a:ext>
            </a:extLst>
          </p:cNvPr>
          <p:cNvSpPr txBox="1"/>
          <p:nvPr/>
        </p:nvSpPr>
        <p:spPr>
          <a:xfrm>
            <a:off x="594360" y="731520"/>
            <a:ext cx="10789920" cy="240066"/>
          </a:xfrm>
          <a:prstGeom prst="rect">
            <a:avLst/>
          </a:prstGeom>
          <a:noFill/>
        </p:spPr>
        <p:txBody>
          <a:bodyPr wrap="square" lIns="54864" tIns="27432" rIns="54864" bIns="27432">
            <a:spAutoFit/>
          </a:bodyPr>
          <a:lstStyle/>
          <a:p>
            <a:r>
              <a:rPr lang="en-US" sz="1200" b="0" dirty="0">
                <a:solidFill>
                  <a:srgbClr val="5D6C7A"/>
                </a:solidFill>
                <a:latin typeface="Aptos"/>
              </a:rPr>
              <a:t>Uncertainty Global Parameter setting activation</a:t>
            </a:r>
            <a:endParaRPr sz="1200" b="0" dirty="0">
              <a:solidFill>
                <a:srgbClr val="5D6C7A"/>
              </a:solidFill>
              <a:latin typeface="Aptos"/>
            </a:endParaRPr>
          </a:p>
        </p:txBody>
      </p:sp>
      <p:sp>
        <p:nvSpPr>
          <p:cNvPr id="4" name="Rectangle 3">
            <a:extLst>
              <a:ext uri="{FF2B5EF4-FFF2-40B4-BE49-F238E27FC236}">
                <a16:creationId xmlns:a16="http://schemas.microsoft.com/office/drawing/2014/main" id="{557BA087-BE0E-9970-225C-27F882F40AC5}"/>
              </a:ext>
            </a:extLst>
          </p:cNvPr>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CF355464-7754-B1D4-BF6F-2D6F03B3F6C5}"/>
              </a:ext>
            </a:extLst>
          </p:cNvPr>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REVIEW</a:t>
            </a:r>
          </a:p>
        </p:txBody>
      </p:sp>
      <p:sp>
        <p:nvSpPr>
          <p:cNvPr id="16" name="TextBox 15">
            <a:extLst>
              <a:ext uri="{FF2B5EF4-FFF2-40B4-BE49-F238E27FC236}">
                <a16:creationId xmlns:a16="http://schemas.microsoft.com/office/drawing/2014/main" id="{83A56B04-616E-166B-F975-A7142445C1A1}"/>
              </a:ext>
            </a:extLst>
          </p:cNvPr>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17" name="TextBox 16">
            <a:extLst>
              <a:ext uri="{FF2B5EF4-FFF2-40B4-BE49-F238E27FC236}">
                <a16:creationId xmlns:a16="http://schemas.microsoft.com/office/drawing/2014/main" id="{C68027B2-A62C-DF90-7A05-AE37CCDE98D0}"/>
              </a:ext>
            </a:extLst>
          </p:cNvPr>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10</a:t>
            </a:r>
          </a:p>
        </p:txBody>
      </p:sp>
      <p:pic>
        <p:nvPicPr>
          <p:cNvPr id="6" name="Picture 5">
            <a:extLst>
              <a:ext uri="{FF2B5EF4-FFF2-40B4-BE49-F238E27FC236}">
                <a16:creationId xmlns:a16="http://schemas.microsoft.com/office/drawing/2014/main" id="{A3B071C8-9FD1-5DAD-5432-9E64F8D6448E}"/>
              </a:ext>
            </a:extLst>
          </p:cNvPr>
          <p:cNvPicPr>
            <a:picLocks noChangeAspect="1"/>
          </p:cNvPicPr>
          <p:nvPr/>
        </p:nvPicPr>
        <p:blipFill>
          <a:blip r:embed="rId2"/>
          <a:stretch>
            <a:fillRect/>
          </a:stretch>
        </p:blipFill>
        <p:spPr>
          <a:xfrm>
            <a:off x="709055" y="1484244"/>
            <a:ext cx="10547165" cy="3657771"/>
          </a:xfrm>
          <a:prstGeom prst="rect">
            <a:avLst/>
          </a:prstGeom>
        </p:spPr>
      </p:pic>
    </p:spTree>
    <p:extLst>
      <p:ext uri="{BB962C8B-B14F-4D97-AF65-F5344CB8AC3E}">
        <p14:creationId xmlns:p14="http://schemas.microsoft.com/office/powerpoint/2010/main" val="3178150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07DBE-EF34-DB16-BD13-4DCECC40BE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9CCB798-460D-B82D-2BBB-CF859547B173}"/>
              </a:ext>
            </a:extLst>
          </p:cNvPr>
          <p:cNvSpPr txBox="1"/>
          <p:nvPr/>
        </p:nvSpPr>
        <p:spPr>
          <a:xfrm>
            <a:off x="566928" y="256032"/>
            <a:ext cx="10972800" cy="486287"/>
          </a:xfrm>
          <a:prstGeom prst="rect">
            <a:avLst/>
          </a:prstGeom>
          <a:noFill/>
        </p:spPr>
        <p:txBody>
          <a:bodyPr wrap="square" lIns="54864" tIns="27432" rIns="54864" bIns="27432">
            <a:spAutoFit/>
          </a:bodyPr>
          <a:lstStyle/>
          <a:p>
            <a:pPr>
              <a:buNone/>
            </a:pPr>
            <a:r>
              <a:rPr lang="en-US" sz="2600" b="1" dirty="0">
                <a:solidFill>
                  <a:srgbClr val="162A46"/>
                </a:solidFill>
                <a:latin typeface="Aptos"/>
              </a:rPr>
              <a:t>14</a:t>
            </a:r>
            <a:r>
              <a:rPr sz="2600" b="1" dirty="0">
                <a:solidFill>
                  <a:srgbClr val="162A46"/>
                </a:solidFill>
                <a:latin typeface="Aptos"/>
              </a:rPr>
              <a:t>. </a:t>
            </a:r>
            <a:r>
              <a:rPr lang="en-US" sz="2800" b="1" dirty="0"/>
              <a:t>Method of Morris Range</a:t>
            </a:r>
          </a:p>
        </p:txBody>
      </p:sp>
      <p:sp>
        <p:nvSpPr>
          <p:cNvPr id="3" name="TextBox 2">
            <a:extLst>
              <a:ext uri="{FF2B5EF4-FFF2-40B4-BE49-F238E27FC236}">
                <a16:creationId xmlns:a16="http://schemas.microsoft.com/office/drawing/2014/main" id="{166845D1-AE5E-5511-1B05-D8D6A291C598}"/>
              </a:ext>
            </a:extLst>
          </p:cNvPr>
          <p:cNvSpPr txBox="1"/>
          <p:nvPr/>
        </p:nvSpPr>
        <p:spPr>
          <a:xfrm>
            <a:off x="594360" y="731520"/>
            <a:ext cx="10789920" cy="240066"/>
          </a:xfrm>
          <a:prstGeom prst="rect">
            <a:avLst/>
          </a:prstGeom>
          <a:noFill/>
        </p:spPr>
        <p:txBody>
          <a:bodyPr wrap="square" lIns="54864" tIns="27432" rIns="54864" bIns="27432">
            <a:spAutoFit/>
          </a:bodyPr>
          <a:lstStyle/>
          <a:p>
            <a:r>
              <a:rPr lang="en-US" sz="1200" b="0" dirty="0">
                <a:solidFill>
                  <a:srgbClr val="5D6C7A"/>
                </a:solidFill>
                <a:latin typeface="Aptos"/>
              </a:rPr>
              <a:t>Morris Range dataset</a:t>
            </a:r>
            <a:endParaRPr sz="1200" b="0" dirty="0">
              <a:solidFill>
                <a:srgbClr val="5D6C7A"/>
              </a:solidFill>
              <a:latin typeface="Aptos"/>
            </a:endParaRPr>
          </a:p>
        </p:txBody>
      </p:sp>
      <p:sp>
        <p:nvSpPr>
          <p:cNvPr id="4" name="Rectangle 3">
            <a:extLst>
              <a:ext uri="{FF2B5EF4-FFF2-40B4-BE49-F238E27FC236}">
                <a16:creationId xmlns:a16="http://schemas.microsoft.com/office/drawing/2014/main" id="{3234FDDA-79E7-DFF2-117C-F6D1407CD8A0}"/>
              </a:ext>
            </a:extLst>
          </p:cNvPr>
          <p:cNvSpPr/>
          <p:nvPr/>
        </p:nvSpPr>
        <p:spPr>
          <a:xfrm>
            <a:off x="594360" y="1097280"/>
            <a:ext cx="10972800" cy="32004"/>
          </a:xfrm>
          <a:prstGeom prst="rect">
            <a:avLst/>
          </a:prstGeom>
          <a:solidFill>
            <a:srgbClr val="228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DA9FAE8D-E6D4-D515-F6F7-30B4ED65B298}"/>
              </a:ext>
            </a:extLst>
          </p:cNvPr>
          <p:cNvSpPr txBox="1"/>
          <p:nvPr/>
        </p:nvSpPr>
        <p:spPr>
          <a:xfrm>
            <a:off x="9692640" y="310896"/>
            <a:ext cx="1737360" cy="182880"/>
          </a:xfrm>
          <a:prstGeom prst="rect">
            <a:avLst/>
          </a:prstGeom>
          <a:noFill/>
        </p:spPr>
        <p:txBody>
          <a:bodyPr wrap="square" lIns="54864" tIns="27432" rIns="54864" bIns="27432">
            <a:spAutoFit/>
          </a:bodyPr>
          <a:lstStyle/>
          <a:p>
            <a:pPr algn="r"/>
            <a:r>
              <a:rPr sz="900" b="1">
                <a:solidFill>
                  <a:srgbClr val="228B87"/>
                </a:solidFill>
                <a:latin typeface="Aptos"/>
              </a:rPr>
              <a:t>REVIEW</a:t>
            </a:r>
          </a:p>
        </p:txBody>
      </p:sp>
      <p:sp>
        <p:nvSpPr>
          <p:cNvPr id="16" name="TextBox 15">
            <a:extLst>
              <a:ext uri="{FF2B5EF4-FFF2-40B4-BE49-F238E27FC236}">
                <a16:creationId xmlns:a16="http://schemas.microsoft.com/office/drawing/2014/main" id="{D3E29A4D-C023-043C-1069-1E7C9131E665}"/>
              </a:ext>
            </a:extLst>
          </p:cNvPr>
          <p:cNvSpPr txBox="1"/>
          <p:nvPr/>
        </p:nvSpPr>
        <p:spPr>
          <a:xfrm>
            <a:off x="594360" y="6510528"/>
            <a:ext cx="9144000" cy="164592"/>
          </a:xfrm>
          <a:prstGeom prst="rect">
            <a:avLst/>
          </a:prstGeom>
          <a:noFill/>
        </p:spPr>
        <p:txBody>
          <a:bodyPr wrap="square" lIns="54864" tIns="27432" rIns="54864" bIns="27432">
            <a:spAutoFit/>
          </a:bodyPr>
          <a:lstStyle/>
          <a:p>
            <a:r>
              <a:rPr sz="800" b="0">
                <a:solidFill>
                  <a:srgbClr val="5D6C7A"/>
                </a:solidFill>
                <a:latin typeface="Aptos"/>
              </a:rPr>
              <a:t>METHOD OF MORRIS • GENX UNCERTAINTY SCREENING</a:t>
            </a:r>
          </a:p>
        </p:txBody>
      </p:sp>
      <p:sp>
        <p:nvSpPr>
          <p:cNvPr id="17" name="TextBox 16">
            <a:extLst>
              <a:ext uri="{FF2B5EF4-FFF2-40B4-BE49-F238E27FC236}">
                <a16:creationId xmlns:a16="http://schemas.microsoft.com/office/drawing/2014/main" id="{56229189-5EED-5FCC-33E7-B008C4C79E75}"/>
              </a:ext>
            </a:extLst>
          </p:cNvPr>
          <p:cNvSpPr txBox="1"/>
          <p:nvPr/>
        </p:nvSpPr>
        <p:spPr>
          <a:xfrm>
            <a:off x="10972800" y="6492240"/>
            <a:ext cx="502920" cy="182880"/>
          </a:xfrm>
          <a:prstGeom prst="rect">
            <a:avLst/>
          </a:prstGeom>
          <a:noFill/>
        </p:spPr>
        <p:txBody>
          <a:bodyPr wrap="square" lIns="54864" tIns="27432" rIns="54864" bIns="27432">
            <a:spAutoFit/>
          </a:bodyPr>
          <a:lstStyle/>
          <a:p>
            <a:pPr algn="r"/>
            <a:r>
              <a:rPr sz="900" b="1">
                <a:solidFill>
                  <a:srgbClr val="5D6C7A"/>
                </a:solidFill>
                <a:latin typeface="Aptos"/>
              </a:rPr>
              <a:t>10</a:t>
            </a:r>
          </a:p>
        </p:txBody>
      </p:sp>
      <p:pic>
        <p:nvPicPr>
          <p:cNvPr id="6" name="Picture 5">
            <a:extLst>
              <a:ext uri="{FF2B5EF4-FFF2-40B4-BE49-F238E27FC236}">
                <a16:creationId xmlns:a16="http://schemas.microsoft.com/office/drawing/2014/main" id="{8FF84942-B9DB-EE4A-553A-1A3DA09A65CE}"/>
              </a:ext>
            </a:extLst>
          </p:cNvPr>
          <p:cNvPicPr>
            <a:picLocks noChangeAspect="1"/>
          </p:cNvPicPr>
          <p:nvPr/>
        </p:nvPicPr>
        <p:blipFill>
          <a:blip r:embed="rId2"/>
          <a:stretch>
            <a:fillRect/>
          </a:stretch>
        </p:blipFill>
        <p:spPr>
          <a:xfrm>
            <a:off x="960120" y="1326547"/>
            <a:ext cx="5135880" cy="4798676"/>
          </a:xfrm>
          <a:prstGeom prst="rect">
            <a:avLst/>
          </a:prstGeom>
        </p:spPr>
      </p:pic>
    </p:spTree>
    <p:extLst>
      <p:ext uri="{BB962C8B-B14F-4D97-AF65-F5344CB8AC3E}">
        <p14:creationId xmlns:p14="http://schemas.microsoft.com/office/powerpoint/2010/main" val="1749337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1450</TotalTime>
  <Words>2756</Words>
  <Application>Microsoft Macintosh PowerPoint</Application>
  <PresentationFormat>Widescreen</PresentationFormat>
  <Paragraphs>330</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Arial</vt:lpstr>
      <vt:lpstr>Calibri</vt:lpstr>
      <vt:lpstr>Cambria Math</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Shane Menezes</cp:lastModifiedBy>
  <cp:revision>17</cp:revision>
  <dcterms:created xsi:type="dcterms:W3CDTF">2013-01-27T09:14:16Z</dcterms:created>
  <dcterms:modified xsi:type="dcterms:W3CDTF">2026-10-29T22:48:36Z</dcterms:modified>
  <cp:category/>
</cp:coreProperties>
</file>